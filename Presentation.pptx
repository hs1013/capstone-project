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Bebas Neue"/>
      <p:regular r:id="rId22"/>
    </p:embeddedFont>
    <p:embeddedFont>
      <p:font typeface="Albert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BebasNeue-regular.fntdata"/><Relationship Id="rId21" Type="http://schemas.openxmlformats.org/officeDocument/2006/relationships/slide" Target="slides/slide17.xml"/><Relationship Id="rId24" Type="http://schemas.openxmlformats.org/officeDocument/2006/relationships/font" Target="fonts/AlbertSans-bold.fntdata"/><Relationship Id="rId23" Type="http://schemas.openxmlformats.org/officeDocument/2006/relationships/font" Target="fonts/Albert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AlbertSans-boldItalic.fntdata"/><Relationship Id="rId25" Type="http://schemas.openxmlformats.org/officeDocument/2006/relationships/font" Target="fonts/Albert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2df7c8325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2df7c8325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presentation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53c274984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53c274984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400">
              <a:latin typeface="Albert Sans"/>
              <a:ea typeface="Albert Sans"/>
              <a:cs typeface="Albert Sans"/>
              <a:sym typeface="Albert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5090783be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5090783be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citation:</a:t>
            </a:r>
            <a:r>
              <a:rPr lang="en">
                <a:solidFill>
                  <a:schemeClr val="dk1"/>
                </a:solidFill>
              </a:rPr>
              <a:t> DPM, “What is Personally Identifiable Information (PII)?,” </a:t>
            </a:r>
            <a:r>
              <a:rPr i="1" lang="en">
                <a:solidFill>
                  <a:schemeClr val="dk1"/>
                </a:solidFill>
              </a:rPr>
              <a:t>Data Privacy Manager</a:t>
            </a:r>
            <a:r>
              <a:rPr lang="en">
                <a:solidFill>
                  <a:schemeClr val="dk1"/>
                </a:solidFill>
              </a:rPr>
              <a:t>, Feb. 23, 2021. https://dataprivacymanager.net/what-is-personally-identifiable-information-pii/</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5090783be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5090783be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400">
              <a:latin typeface="Albert Sans"/>
              <a:ea typeface="Albert Sans"/>
              <a:cs typeface="Albert Sans"/>
              <a:sym typeface="Albert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1c8653b4fc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1c8653b4fc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400">
              <a:latin typeface="Albert Sans"/>
              <a:ea typeface="Albert Sans"/>
              <a:cs typeface="Albert Sans"/>
              <a:sym typeface="Albert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1c83aa0a0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1c83aa0a0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400">
              <a:latin typeface="Albert Sans"/>
              <a:ea typeface="Albert Sans"/>
              <a:cs typeface="Albert Sans"/>
              <a:sym typeface="Albert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5090783be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5090783be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400">
              <a:latin typeface="Albert Sans"/>
              <a:ea typeface="Albert Sans"/>
              <a:cs typeface="Albert Sans"/>
              <a:sym typeface="Albert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d8f11a42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d8f11a42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bert Sans"/>
                <a:ea typeface="Albert Sans"/>
                <a:cs typeface="Albert Sans"/>
                <a:sym typeface="Albert Sans"/>
              </a:rPr>
              <a:t>When I was first trying this model out, my preliminary results of the model were just giving me the first three pieces of information which was the data title, the first two sentences of the input paragraph, and then a random sentence that was pulled from the input; which was not an ideal summarization representation of the downloaded data that I used. So I went through a lot of trial and error with tweaking the data inputs or changing the model metrics, where I could eventually get better results and see that good progress was made. </a:t>
            </a:r>
            <a:endParaRPr sz="18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5090783be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5090783be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bert Sans"/>
                <a:ea typeface="Albert Sans"/>
                <a:cs typeface="Albert Sans"/>
                <a:sym typeface="Albert Sans"/>
              </a:rPr>
              <a:t>When I was first trying this model out, my preliminary results of the model were just giving me the first three pieces of information which was the data title, the first two sentences of the input paragraph, and then a random sentence that was pulled from the input; which was not an ideal summarization representation of the downloaded data that I used. So I went through a lot of trial and error with tweaking the data inputs or changing the model metrics, where I could eventually get better results and see that good progress was made. </a:t>
            </a:r>
            <a:endParaRPr sz="18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53c27498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53c27498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bert Sans"/>
                <a:ea typeface="Albert Sans"/>
                <a:cs typeface="Albert Sans"/>
                <a:sym typeface="Albert Sans"/>
              </a:rPr>
              <a:t>When I was first trying this model out, my preliminary results of the model were just giving me the first three pieces of information which was the data title, the first two sentences of the input paragraph, and then a random sentence that was pulled from the input; which was not an ideal summarization representation of the downloaded data that I used. So I went through a lot of trial and error with tweaking the data inputs or changing the model metrics, where I could eventually get better results and see that good progress was made. </a:t>
            </a:r>
            <a:endParaRPr sz="18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3a81a1191a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3a81a1191a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3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53c274984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53c274984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3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1caeaa97a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1caeaa97a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5090783bec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5090783bec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3a81a1191a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3a81a1191a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3a81a1191a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3a81a1191a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13ec4c36e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13ec4c36e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chemeClr val="accent6"/>
            </a:gs>
            <a:gs pos="100000">
              <a:schemeClr val="accent1"/>
            </a:gs>
          </a:gsLst>
          <a:lin ang="5400700" scaled="0"/>
        </a:gradFill>
      </p:bgPr>
    </p:bg>
    <p:spTree>
      <p:nvGrpSpPr>
        <p:cNvPr id="8" name="Shape 8"/>
        <p:cNvGrpSpPr/>
        <p:nvPr/>
      </p:nvGrpSpPr>
      <p:grpSpPr>
        <a:xfrm>
          <a:off x="0" y="0"/>
          <a:ext cx="0" cy="0"/>
          <a:chOff x="0" y="0"/>
          <a:chExt cx="0" cy="0"/>
        </a:xfrm>
      </p:grpSpPr>
      <p:sp>
        <p:nvSpPr>
          <p:cNvPr id="9" name="Google Shape;9;p2"/>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type="ctrTitle"/>
          </p:nvPr>
        </p:nvSpPr>
        <p:spPr>
          <a:xfrm>
            <a:off x="909050" y="1274763"/>
            <a:ext cx="3468900" cy="20394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5200"/>
              <a:buNone/>
              <a:defRPr b="1" sz="4500">
                <a:latin typeface="Albert Sans"/>
                <a:ea typeface="Albert Sans"/>
                <a:cs typeface="Albert Sans"/>
                <a:sym typeface="Albert Sa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909050" y="3314087"/>
            <a:ext cx="3468900" cy="40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6"/>
            </a:gs>
            <a:gs pos="100000">
              <a:schemeClr val="accent1"/>
            </a:gs>
          </a:gsLst>
          <a:lin ang="16200038" scaled="0"/>
        </a:gradFill>
      </p:bgPr>
    </p:bg>
    <p:spTree>
      <p:nvGrpSpPr>
        <p:cNvPr id="12" name="Shape 12"/>
        <p:cNvGrpSpPr/>
        <p:nvPr/>
      </p:nvGrpSpPr>
      <p:grpSpPr>
        <a:xfrm>
          <a:off x="0" y="0"/>
          <a:ext cx="0" cy="0"/>
          <a:chOff x="0" y="0"/>
          <a:chExt cx="0" cy="0"/>
        </a:xfrm>
      </p:grpSpPr>
      <p:sp>
        <p:nvSpPr>
          <p:cNvPr id="13" name="Google Shape;13;p3"/>
          <p:cNvSpPr txBox="1"/>
          <p:nvPr>
            <p:ph type="title"/>
          </p:nvPr>
        </p:nvSpPr>
        <p:spPr>
          <a:xfrm>
            <a:off x="909050" y="2267588"/>
            <a:ext cx="4812600" cy="9429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hasCustomPrompt="1" idx="2" type="title"/>
          </p:nvPr>
        </p:nvSpPr>
        <p:spPr>
          <a:xfrm>
            <a:off x="909050" y="1162713"/>
            <a:ext cx="4812600" cy="11049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6000">
                <a:solidFill>
                  <a:schemeClr val="accen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5" name="Google Shape;15;p3"/>
          <p:cNvSpPr/>
          <p:nvPr/>
        </p:nvSpPr>
        <p:spPr>
          <a:xfrm>
            <a:off x="428100" y="399900"/>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gradFill>
          <a:gsLst>
            <a:gs pos="0">
              <a:schemeClr val="accent6"/>
            </a:gs>
            <a:gs pos="100000">
              <a:schemeClr val="accent1"/>
            </a:gs>
          </a:gsLst>
          <a:lin ang="5400700" scaled="0"/>
        </a:gradFill>
      </p:bgPr>
    </p:bg>
    <p:spTree>
      <p:nvGrpSpPr>
        <p:cNvPr id="16" name="Shape 16"/>
        <p:cNvGrpSpPr/>
        <p:nvPr/>
      </p:nvGrpSpPr>
      <p:grpSpPr>
        <a:xfrm>
          <a:off x="0" y="0"/>
          <a:ext cx="0" cy="0"/>
          <a:chOff x="0" y="0"/>
          <a:chExt cx="0" cy="0"/>
        </a:xfrm>
      </p:grpSpPr>
      <p:sp>
        <p:nvSpPr>
          <p:cNvPr id="17" name="Google Shape;17;p4"/>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9" name="Google Shape;19;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04800" lvl="1" marL="914400" rtl="0">
              <a:lnSpc>
                <a:spcPct val="115000"/>
              </a:lnSpc>
              <a:spcBef>
                <a:spcPts val="0"/>
              </a:spcBef>
              <a:spcAft>
                <a:spcPts val="0"/>
              </a:spcAft>
              <a:buClr>
                <a:srgbClr val="434343"/>
              </a:buClr>
              <a:buSzPts val="1200"/>
              <a:buChar char="○"/>
              <a:defRPr>
                <a:solidFill>
                  <a:srgbClr val="434343"/>
                </a:solidFill>
              </a:defRPr>
            </a:lvl2pPr>
            <a:lvl3pPr indent="-304800" lvl="2" marL="1371600" rtl="0">
              <a:lnSpc>
                <a:spcPct val="115000"/>
              </a:lnSpc>
              <a:spcBef>
                <a:spcPts val="0"/>
              </a:spcBef>
              <a:spcAft>
                <a:spcPts val="0"/>
              </a:spcAft>
              <a:buClr>
                <a:srgbClr val="434343"/>
              </a:buClr>
              <a:buSzPts val="1200"/>
              <a:buChar char="■"/>
              <a:defRPr>
                <a:solidFill>
                  <a:srgbClr val="434343"/>
                </a:solidFill>
              </a:defRPr>
            </a:lvl3pPr>
            <a:lvl4pPr indent="-304800" lvl="3" marL="1828800" rtl="0">
              <a:lnSpc>
                <a:spcPct val="115000"/>
              </a:lnSpc>
              <a:spcBef>
                <a:spcPts val="0"/>
              </a:spcBef>
              <a:spcAft>
                <a:spcPts val="0"/>
              </a:spcAft>
              <a:buClr>
                <a:srgbClr val="434343"/>
              </a:buClr>
              <a:buSzPts val="1200"/>
              <a:buChar char="●"/>
              <a:defRPr>
                <a:solidFill>
                  <a:srgbClr val="434343"/>
                </a:solidFill>
              </a:defRPr>
            </a:lvl4pPr>
            <a:lvl5pPr indent="-304800" lvl="4" marL="2286000" rtl="0">
              <a:lnSpc>
                <a:spcPct val="115000"/>
              </a:lnSpc>
              <a:spcBef>
                <a:spcPts val="0"/>
              </a:spcBef>
              <a:spcAft>
                <a:spcPts val="0"/>
              </a:spcAft>
              <a:buClr>
                <a:srgbClr val="434343"/>
              </a:buClr>
              <a:buSzPts val="1200"/>
              <a:buChar char="○"/>
              <a:defRPr>
                <a:solidFill>
                  <a:srgbClr val="434343"/>
                </a:solidFill>
              </a:defRPr>
            </a:lvl5pPr>
            <a:lvl6pPr indent="-304800" lvl="5" marL="2743200" rtl="0">
              <a:lnSpc>
                <a:spcPct val="115000"/>
              </a:lnSpc>
              <a:spcBef>
                <a:spcPts val="0"/>
              </a:spcBef>
              <a:spcAft>
                <a:spcPts val="0"/>
              </a:spcAft>
              <a:buClr>
                <a:srgbClr val="434343"/>
              </a:buClr>
              <a:buSzPts val="1200"/>
              <a:buChar char="■"/>
              <a:defRPr>
                <a:solidFill>
                  <a:srgbClr val="434343"/>
                </a:solidFill>
              </a:defRPr>
            </a:lvl6pPr>
            <a:lvl7pPr indent="-304800" lvl="6" marL="3200400" rtl="0">
              <a:lnSpc>
                <a:spcPct val="115000"/>
              </a:lnSpc>
              <a:spcBef>
                <a:spcPts val="0"/>
              </a:spcBef>
              <a:spcAft>
                <a:spcPts val="0"/>
              </a:spcAft>
              <a:buClr>
                <a:srgbClr val="434343"/>
              </a:buClr>
              <a:buSzPts val="1200"/>
              <a:buChar char="●"/>
              <a:defRPr>
                <a:solidFill>
                  <a:srgbClr val="434343"/>
                </a:solidFill>
              </a:defRPr>
            </a:lvl7pPr>
            <a:lvl8pPr indent="-304800" lvl="7" marL="3657600" rtl="0">
              <a:lnSpc>
                <a:spcPct val="115000"/>
              </a:lnSpc>
              <a:spcBef>
                <a:spcPts val="0"/>
              </a:spcBef>
              <a:spcAft>
                <a:spcPts val="0"/>
              </a:spcAft>
              <a:buClr>
                <a:srgbClr val="434343"/>
              </a:buClr>
              <a:buSzPts val="1200"/>
              <a:buChar char="○"/>
              <a:defRPr>
                <a:solidFill>
                  <a:srgbClr val="434343"/>
                </a:solidFill>
              </a:defRPr>
            </a:lvl8pPr>
            <a:lvl9pPr indent="-304800" lvl="8" marL="4114800" rtl="0">
              <a:lnSpc>
                <a:spcPct val="115000"/>
              </a:lnSpc>
              <a:spcBef>
                <a:spcPts val="0"/>
              </a:spcBef>
              <a:spcAft>
                <a:spcPts val="0"/>
              </a:spcAft>
              <a:buClr>
                <a:srgbClr val="434343"/>
              </a:buClr>
              <a:buSzPts val="1200"/>
              <a:buChar char="■"/>
              <a:defRPr>
                <a:solidFill>
                  <a:srgbClr val="434343"/>
                </a:solidFill>
              </a:defRPr>
            </a:lvl9pPr>
          </a:lstStyle>
          <a:p/>
        </p:txBody>
      </p:sp>
      <p:sp>
        <p:nvSpPr>
          <p:cNvPr id="20" name="Google Shape;20;p4"/>
          <p:cNvSpPr/>
          <p:nvPr/>
        </p:nvSpPr>
        <p:spPr>
          <a:xfrm>
            <a:off x="7987913" y="1006425"/>
            <a:ext cx="283500" cy="2835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8232563" y="1006425"/>
            <a:ext cx="151500" cy="151500"/>
          </a:xfrm>
          <a:prstGeom prst="ellipse">
            <a:avLst/>
          </a:prstGeom>
          <a:gradFill>
            <a:gsLst>
              <a:gs pos="0">
                <a:schemeClr val="dk2">
                  <a:alpha val="10000"/>
                </a:schemeClr>
              </a:gs>
              <a:gs pos="100000">
                <a:schemeClr val="lt1">
                  <a:alpha val="10000"/>
                </a:scheme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759938" y="3782749"/>
            <a:ext cx="315000" cy="3150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a:off x="913013" y="3863750"/>
            <a:ext cx="554700" cy="5547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a:off x="1397638" y="3980300"/>
            <a:ext cx="151500" cy="151500"/>
          </a:xfrm>
          <a:prstGeom prst="ellipse">
            <a:avLst/>
          </a:prstGeom>
          <a:gradFill>
            <a:gsLst>
              <a:gs pos="0">
                <a:schemeClr val="accent3">
                  <a:alpha val="10000"/>
                </a:schemeClr>
              </a:gs>
              <a:gs pos="100000">
                <a:schemeClr val="accent2">
                  <a:alpha val="10000"/>
                </a:scheme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7836413" y="725050"/>
            <a:ext cx="151500" cy="1515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gradFill>
          <a:gsLst>
            <a:gs pos="0">
              <a:schemeClr val="accent6"/>
            </a:gs>
            <a:gs pos="100000">
              <a:schemeClr val="accent1"/>
            </a:gs>
          </a:gsLst>
          <a:lin ang="5400700" scaled="0"/>
        </a:gradFill>
      </p:bgPr>
    </p:bg>
    <p:spTree>
      <p:nvGrpSpPr>
        <p:cNvPr id="26" name="Shape 26"/>
        <p:cNvGrpSpPr/>
        <p:nvPr/>
      </p:nvGrpSpPr>
      <p:grpSpPr>
        <a:xfrm>
          <a:off x="0" y="0"/>
          <a:ext cx="0" cy="0"/>
          <a:chOff x="0" y="0"/>
          <a:chExt cx="0" cy="0"/>
        </a:xfrm>
      </p:grpSpPr>
      <p:sp>
        <p:nvSpPr>
          <p:cNvPr id="27" name="Google Shape;27;p5"/>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715100" y="535000"/>
            <a:ext cx="7713900" cy="664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9pPr>
          </a:lstStyle>
          <a:p/>
        </p:txBody>
      </p:sp>
      <p:sp>
        <p:nvSpPr>
          <p:cNvPr id="29" name="Google Shape;29;p5"/>
          <p:cNvSpPr txBox="1"/>
          <p:nvPr>
            <p:ph idx="1" type="subTitle"/>
          </p:nvPr>
        </p:nvSpPr>
        <p:spPr>
          <a:xfrm>
            <a:off x="1574700" y="1533475"/>
            <a:ext cx="5994600" cy="4923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0" name="Google Shape;30;p5"/>
          <p:cNvSpPr txBox="1"/>
          <p:nvPr>
            <p:ph idx="2" type="subTitle"/>
          </p:nvPr>
        </p:nvSpPr>
        <p:spPr>
          <a:xfrm>
            <a:off x="1574700" y="1873363"/>
            <a:ext cx="5994600" cy="713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1" name="Google Shape;31;p5"/>
          <p:cNvSpPr txBox="1"/>
          <p:nvPr>
            <p:ph idx="3" type="subTitle"/>
          </p:nvPr>
        </p:nvSpPr>
        <p:spPr>
          <a:xfrm>
            <a:off x="1574700" y="2847175"/>
            <a:ext cx="5994600" cy="4923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2" name="Google Shape;32;p5"/>
          <p:cNvSpPr txBox="1"/>
          <p:nvPr>
            <p:ph idx="4" type="subTitle"/>
          </p:nvPr>
        </p:nvSpPr>
        <p:spPr>
          <a:xfrm>
            <a:off x="1574700" y="3187075"/>
            <a:ext cx="5994600" cy="713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accent6"/>
            </a:gs>
            <a:gs pos="100000">
              <a:schemeClr val="accent1"/>
            </a:gs>
          </a:gsLst>
          <a:lin ang="5400700" scaled="0"/>
        </a:gradFill>
      </p:bgPr>
    </p:bg>
    <p:spTree>
      <p:nvGrpSpPr>
        <p:cNvPr id="33" name="Shape 33"/>
        <p:cNvGrpSpPr/>
        <p:nvPr/>
      </p:nvGrpSpPr>
      <p:grpSpPr>
        <a:xfrm>
          <a:off x="0" y="0"/>
          <a:ext cx="0" cy="0"/>
          <a:chOff x="0" y="0"/>
          <a:chExt cx="0" cy="0"/>
        </a:xfrm>
      </p:grpSpPr>
      <p:sp>
        <p:nvSpPr>
          <p:cNvPr id="34" name="Google Shape;34;p6"/>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715100" y="535000"/>
            <a:ext cx="7713900" cy="664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gradFill>
          <a:gsLst>
            <a:gs pos="0">
              <a:schemeClr val="accent6"/>
            </a:gs>
            <a:gs pos="100000">
              <a:schemeClr val="accent1"/>
            </a:gs>
          </a:gsLst>
          <a:lin ang="5400700" scaled="0"/>
        </a:gradFill>
      </p:bgPr>
    </p:bg>
    <p:spTree>
      <p:nvGrpSpPr>
        <p:cNvPr id="36" name="Shape 36"/>
        <p:cNvGrpSpPr/>
        <p:nvPr/>
      </p:nvGrpSpPr>
      <p:grpSpPr>
        <a:xfrm>
          <a:off x="0" y="0"/>
          <a:ext cx="0" cy="0"/>
          <a:chOff x="0" y="0"/>
          <a:chExt cx="0" cy="0"/>
        </a:xfrm>
      </p:grpSpPr>
      <p:sp>
        <p:nvSpPr>
          <p:cNvPr id="37" name="Google Shape;37;p7"/>
          <p:cNvSpPr txBox="1"/>
          <p:nvPr>
            <p:ph type="title"/>
          </p:nvPr>
        </p:nvSpPr>
        <p:spPr>
          <a:xfrm>
            <a:off x="715100" y="980700"/>
            <a:ext cx="3856800" cy="664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9pPr>
          </a:lstStyle>
          <a:p/>
        </p:txBody>
      </p:sp>
      <p:sp>
        <p:nvSpPr>
          <p:cNvPr id="38" name="Google Shape;38;p7"/>
          <p:cNvSpPr txBox="1"/>
          <p:nvPr>
            <p:ph idx="1" type="body"/>
          </p:nvPr>
        </p:nvSpPr>
        <p:spPr>
          <a:xfrm>
            <a:off x="715100" y="1797300"/>
            <a:ext cx="3856800" cy="23655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rtl="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rtl="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rtl="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rtl="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rtl="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rtl="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rtl="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rtl="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
        <p:nvSpPr>
          <p:cNvPr id="39" name="Google Shape;39;p7"/>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7"/>
          <p:cNvSpPr/>
          <p:nvPr>
            <p:ph idx="2" type="pic"/>
          </p:nvPr>
        </p:nvSpPr>
        <p:spPr>
          <a:xfrm>
            <a:off x="4894575" y="966150"/>
            <a:ext cx="3211200" cy="3211200"/>
          </a:xfrm>
          <a:prstGeom prst="ellipse">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gradFill>
          <a:gsLst>
            <a:gs pos="0">
              <a:schemeClr val="accent6"/>
            </a:gs>
            <a:gs pos="100000">
              <a:schemeClr val="accent1"/>
            </a:gs>
          </a:gsLst>
          <a:lin ang="5400700" scaled="0"/>
        </a:gradFill>
      </p:bgPr>
    </p:bg>
    <p:spTree>
      <p:nvGrpSpPr>
        <p:cNvPr id="41" name="Shape 41"/>
        <p:cNvGrpSpPr/>
        <p:nvPr/>
      </p:nvGrpSpPr>
      <p:grpSpPr>
        <a:xfrm>
          <a:off x="0" y="0"/>
          <a:ext cx="0" cy="0"/>
          <a:chOff x="0" y="0"/>
          <a:chExt cx="0" cy="0"/>
        </a:xfrm>
      </p:grpSpPr>
      <p:sp>
        <p:nvSpPr>
          <p:cNvPr id="42" name="Google Shape;42;p8"/>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44" name="Google Shape;44;p8"/>
          <p:cNvSpPr/>
          <p:nvPr/>
        </p:nvSpPr>
        <p:spPr>
          <a:xfrm>
            <a:off x="930225" y="4191875"/>
            <a:ext cx="283500" cy="2835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8"/>
          <p:cNvSpPr/>
          <p:nvPr/>
        </p:nvSpPr>
        <p:spPr>
          <a:xfrm>
            <a:off x="759938" y="671399"/>
            <a:ext cx="315000" cy="3150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8"/>
          <p:cNvSpPr/>
          <p:nvPr/>
        </p:nvSpPr>
        <p:spPr>
          <a:xfrm>
            <a:off x="913013" y="752400"/>
            <a:ext cx="554700" cy="5547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8"/>
          <p:cNvSpPr/>
          <p:nvPr/>
        </p:nvSpPr>
        <p:spPr>
          <a:xfrm>
            <a:off x="1397638" y="868950"/>
            <a:ext cx="151500" cy="151500"/>
          </a:xfrm>
          <a:prstGeom prst="ellipse">
            <a:avLst/>
          </a:prstGeom>
          <a:gradFill>
            <a:gsLst>
              <a:gs pos="0">
                <a:schemeClr val="accent3">
                  <a:alpha val="10000"/>
                </a:schemeClr>
              </a:gs>
              <a:gs pos="100000">
                <a:schemeClr val="accent2">
                  <a:alpha val="10000"/>
                </a:scheme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p:nvPr/>
        </p:nvSpPr>
        <p:spPr>
          <a:xfrm>
            <a:off x="715100" y="3937124"/>
            <a:ext cx="151500" cy="1515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8"/>
          <p:cNvSpPr/>
          <p:nvPr/>
        </p:nvSpPr>
        <p:spPr>
          <a:xfrm rot="10800000">
            <a:off x="8069063" y="4112525"/>
            <a:ext cx="315000" cy="3150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p:nvPr/>
        </p:nvSpPr>
        <p:spPr>
          <a:xfrm rot="10800000">
            <a:off x="7676288" y="3791824"/>
            <a:ext cx="554700" cy="5547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8"/>
          <p:cNvSpPr/>
          <p:nvPr/>
        </p:nvSpPr>
        <p:spPr>
          <a:xfrm rot="10800000">
            <a:off x="7594863" y="4078474"/>
            <a:ext cx="151500" cy="151500"/>
          </a:xfrm>
          <a:prstGeom prst="ellipse">
            <a:avLst/>
          </a:prstGeom>
          <a:gradFill>
            <a:gsLst>
              <a:gs pos="0">
                <a:schemeClr val="dk2">
                  <a:alpha val="10000"/>
                </a:schemeClr>
              </a:gs>
              <a:gs pos="100000">
                <a:schemeClr val="lt1">
                  <a:alpha val="1000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8"/>
          <p:cNvSpPr/>
          <p:nvPr/>
        </p:nvSpPr>
        <p:spPr>
          <a:xfrm>
            <a:off x="7914825" y="668125"/>
            <a:ext cx="283500" cy="2835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a:off x="8277400" y="1038424"/>
            <a:ext cx="151500" cy="1515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gradFill>
          <a:gsLst>
            <a:gs pos="0">
              <a:schemeClr val="accent6"/>
            </a:gs>
            <a:gs pos="100000">
              <a:schemeClr val="accent1"/>
            </a:gs>
          </a:gsLst>
          <a:lin ang="5400700" scaled="0"/>
        </a:gradFill>
      </p:bgPr>
    </p:bg>
    <p:spTree>
      <p:nvGrpSpPr>
        <p:cNvPr id="54" name="Shape 54"/>
        <p:cNvGrpSpPr/>
        <p:nvPr/>
      </p:nvGrpSpPr>
      <p:grpSpPr>
        <a:xfrm>
          <a:off x="0" y="0"/>
          <a:ext cx="0" cy="0"/>
          <a:chOff x="0" y="0"/>
          <a:chExt cx="0" cy="0"/>
        </a:xfrm>
      </p:grpSpPr>
      <p:sp>
        <p:nvSpPr>
          <p:cNvPr id="55" name="Google Shape;55;p9"/>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9"/>
          <p:cNvSpPr txBox="1"/>
          <p:nvPr>
            <p:ph type="title"/>
          </p:nvPr>
        </p:nvSpPr>
        <p:spPr>
          <a:xfrm>
            <a:off x="720000" y="367423"/>
            <a:ext cx="7704000" cy="84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7" name="Google Shape;57;p9"/>
          <p:cNvSpPr txBox="1"/>
          <p:nvPr>
            <p:ph idx="1" type="subTitle"/>
          </p:nvPr>
        </p:nvSpPr>
        <p:spPr>
          <a:xfrm>
            <a:off x="2241550" y="1348750"/>
            <a:ext cx="4661100" cy="1681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gradFill>
          <a:gsLst>
            <a:gs pos="0">
              <a:schemeClr val="accent6"/>
            </a:gs>
            <a:gs pos="100000">
              <a:schemeClr val="accent1"/>
            </a:gs>
          </a:gsLst>
          <a:lin ang="5400700" scaled="0"/>
        </a:gradFill>
      </p:bgPr>
    </p:bg>
    <p:spTree>
      <p:nvGrpSpPr>
        <p:cNvPr id="58" name="Shape 58"/>
        <p:cNvGrpSpPr/>
        <p:nvPr/>
      </p:nvGrpSpPr>
      <p:grpSpPr>
        <a:xfrm>
          <a:off x="0" y="0"/>
          <a:ext cx="0" cy="0"/>
          <a:chOff x="0" y="0"/>
          <a:chExt cx="0" cy="0"/>
        </a:xfrm>
      </p:grpSpPr>
      <p:sp>
        <p:nvSpPr>
          <p:cNvPr id="59" name="Google Shape;59;p10"/>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0"/>
          <p:cNvSpPr txBox="1"/>
          <p:nvPr>
            <p:ph type="title"/>
          </p:nvPr>
        </p:nvSpPr>
        <p:spPr>
          <a:xfrm>
            <a:off x="720000" y="22854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61" name="Google Shape;61;p10"/>
          <p:cNvSpPr/>
          <p:nvPr/>
        </p:nvSpPr>
        <p:spPr>
          <a:xfrm>
            <a:off x="930225" y="4191875"/>
            <a:ext cx="283500" cy="2835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0"/>
          <p:cNvSpPr/>
          <p:nvPr/>
        </p:nvSpPr>
        <p:spPr>
          <a:xfrm>
            <a:off x="715100" y="3937124"/>
            <a:ext cx="151500" cy="1515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0"/>
          <p:cNvSpPr/>
          <p:nvPr/>
        </p:nvSpPr>
        <p:spPr>
          <a:xfrm>
            <a:off x="7914825" y="668125"/>
            <a:ext cx="283500" cy="2835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0"/>
          <p:cNvSpPr/>
          <p:nvPr/>
        </p:nvSpPr>
        <p:spPr>
          <a:xfrm>
            <a:off x="8277400" y="1038424"/>
            <a:ext cx="151500" cy="1515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chemeClr val="accent6"/>
            </a:gs>
            <a:gs pos="100000">
              <a:schemeClr val="accent1"/>
            </a:gs>
          </a:gsLst>
          <a:lin ang="16198662" scaled="0"/>
        </a:gradFill>
      </p:bgPr>
    </p:bg>
    <p:spTree>
      <p:nvGrpSpPr>
        <p:cNvPr id="65" name="Shape 65"/>
        <p:cNvGrpSpPr/>
        <p:nvPr/>
      </p:nvGrpSpPr>
      <p:grpSpPr>
        <a:xfrm>
          <a:off x="0" y="0"/>
          <a:ext cx="0" cy="0"/>
          <a:chOff x="0" y="0"/>
          <a:chExt cx="0" cy="0"/>
        </a:xfrm>
      </p:grpSpPr>
      <p:sp>
        <p:nvSpPr>
          <p:cNvPr id="66" name="Google Shape;66;p11"/>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1"/>
          <p:cNvSpPr txBox="1"/>
          <p:nvPr>
            <p:ph hasCustomPrompt="1" type="title"/>
          </p:nvPr>
        </p:nvSpPr>
        <p:spPr>
          <a:xfrm>
            <a:off x="715100" y="1164438"/>
            <a:ext cx="7713900" cy="11007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8" name="Google Shape;68;p11"/>
          <p:cNvSpPr txBox="1"/>
          <p:nvPr>
            <p:ph idx="1" type="subTitle"/>
          </p:nvPr>
        </p:nvSpPr>
        <p:spPr>
          <a:xfrm>
            <a:off x="715100" y="2265263"/>
            <a:ext cx="7713900" cy="3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69" name="Google Shape;69;p11"/>
          <p:cNvSpPr/>
          <p:nvPr/>
        </p:nvSpPr>
        <p:spPr>
          <a:xfrm>
            <a:off x="7987913" y="1006425"/>
            <a:ext cx="283500" cy="2835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1"/>
          <p:cNvSpPr/>
          <p:nvPr/>
        </p:nvSpPr>
        <p:spPr>
          <a:xfrm>
            <a:off x="8232563" y="1006425"/>
            <a:ext cx="151500" cy="151500"/>
          </a:xfrm>
          <a:prstGeom prst="ellipse">
            <a:avLst/>
          </a:prstGeom>
          <a:gradFill>
            <a:gsLst>
              <a:gs pos="0">
                <a:schemeClr val="accent3">
                  <a:alpha val="10000"/>
                </a:schemeClr>
              </a:gs>
              <a:gs pos="100000">
                <a:schemeClr val="accent2">
                  <a:alpha val="10000"/>
                </a:scheme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1"/>
          <p:cNvSpPr/>
          <p:nvPr/>
        </p:nvSpPr>
        <p:spPr>
          <a:xfrm>
            <a:off x="759938" y="3782749"/>
            <a:ext cx="315000" cy="3150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a:off x="913013" y="3863750"/>
            <a:ext cx="554700" cy="5547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a:off x="1397638" y="3980300"/>
            <a:ext cx="151500" cy="151500"/>
          </a:xfrm>
          <a:prstGeom prst="ellipse">
            <a:avLst/>
          </a:prstGeom>
          <a:gradFill>
            <a:gsLst>
              <a:gs pos="0">
                <a:schemeClr val="dk2">
                  <a:alpha val="10000"/>
                </a:schemeClr>
              </a:gs>
              <a:gs pos="100000">
                <a:schemeClr val="lt1">
                  <a:alpha val="1000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a:off x="7836413" y="725050"/>
            <a:ext cx="151500" cy="1515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bg>
      <p:bgPr>
        <a:gradFill>
          <a:gsLst>
            <a:gs pos="0">
              <a:schemeClr val="accent6"/>
            </a:gs>
            <a:gs pos="100000">
              <a:schemeClr val="accent1"/>
            </a:gs>
          </a:gsLst>
          <a:lin ang="16200038" scaled="0"/>
        </a:gradFill>
      </p:bgPr>
    </p:bg>
    <p:spTree>
      <p:nvGrpSpPr>
        <p:cNvPr id="76" name="Shape 76"/>
        <p:cNvGrpSpPr/>
        <p:nvPr/>
      </p:nvGrpSpPr>
      <p:grpSpPr>
        <a:xfrm>
          <a:off x="0" y="0"/>
          <a:ext cx="0" cy="0"/>
          <a:chOff x="0" y="0"/>
          <a:chExt cx="0" cy="0"/>
        </a:xfrm>
      </p:grpSpPr>
      <p:sp>
        <p:nvSpPr>
          <p:cNvPr id="77" name="Google Shape;77;p13"/>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3"/>
          <p:cNvSpPr txBox="1"/>
          <p:nvPr>
            <p:ph hasCustomPrompt="1" type="title"/>
          </p:nvPr>
        </p:nvSpPr>
        <p:spPr>
          <a:xfrm>
            <a:off x="715100" y="1199200"/>
            <a:ext cx="649200" cy="5238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p:nvPr>
            <p:ph idx="1" type="subTitle"/>
          </p:nvPr>
        </p:nvSpPr>
        <p:spPr>
          <a:xfrm>
            <a:off x="1364300" y="1199200"/>
            <a:ext cx="7064700" cy="523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0" name="Google Shape;80;p13"/>
          <p:cNvSpPr txBox="1"/>
          <p:nvPr>
            <p:ph idx="2" type="title"/>
          </p:nvPr>
        </p:nvSpPr>
        <p:spPr>
          <a:xfrm>
            <a:off x="715100" y="535000"/>
            <a:ext cx="7713900" cy="664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9pPr>
          </a:lstStyle>
          <a:p/>
        </p:txBody>
      </p:sp>
      <p:sp>
        <p:nvSpPr>
          <p:cNvPr id="81" name="Google Shape;81;p13"/>
          <p:cNvSpPr txBox="1"/>
          <p:nvPr>
            <p:ph hasCustomPrompt="1" idx="3" type="title"/>
          </p:nvPr>
        </p:nvSpPr>
        <p:spPr>
          <a:xfrm>
            <a:off x="715100" y="1723000"/>
            <a:ext cx="649200" cy="5238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p:nvPr>
            <p:ph idx="4" type="subTitle"/>
          </p:nvPr>
        </p:nvSpPr>
        <p:spPr>
          <a:xfrm>
            <a:off x="1364300" y="1723000"/>
            <a:ext cx="7064700" cy="523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3" name="Google Shape;83;p13"/>
          <p:cNvSpPr txBox="1"/>
          <p:nvPr>
            <p:ph hasCustomPrompt="1" idx="5" type="title"/>
          </p:nvPr>
        </p:nvSpPr>
        <p:spPr>
          <a:xfrm>
            <a:off x="715100" y="2246800"/>
            <a:ext cx="649200" cy="5238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 name="Google Shape;84;p13"/>
          <p:cNvSpPr txBox="1"/>
          <p:nvPr>
            <p:ph idx="6" type="subTitle"/>
          </p:nvPr>
        </p:nvSpPr>
        <p:spPr>
          <a:xfrm>
            <a:off x="1364300" y="2246800"/>
            <a:ext cx="7064700" cy="523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5" name="Google Shape;85;p13"/>
          <p:cNvSpPr txBox="1"/>
          <p:nvPr>
            <p:ph hasCustomPrompt="1" idx="7" type="title"/>
          </p:nvPr>
        </p:nvSpPr>
        <p:spPr>
          <a:xfrm>
            <a:off x="715100" y="2770600"/>
            <a:ext cx="649200" cy="5238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p:nvPr>
            <p:ph idx="8" type="subTitle"/>
          </p:nvPr>
        </p:nvSpPr>
        <p:spPr>
          <a:xfrm>
            <a:off x="1364300" y="2770600"/>
            <a:ext cx="7064700" cy="523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7" name="Google Shape;87;p13"/>
          <p:cNvSpPr txBox="1"/>
          <p:nvPr>
            <p:ph hasCustomPrompt="1" idx="9" type="title"/>
          </p:nvPr>
        </p:nvSpPr>
        <p:spPr>
          <a:xfrm>
            <a:off x="715100" y="3294400"/>
            <a:ext cx="649200" cy="5238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p:nvPr>
            <p:ph idx="13" type="subTitle"/>
          </p:nvPr>
        </p:nvSpPr>
        <p:spPr>
          <a:xfrm>
            <a:off x="1364300" y="3294400"/>
            <a:ext cx="7064700" cy="523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9" name="Google Shape;89;p13"/>
          <p:cNvSpPr txBox="1"/>
          <p:nvPr>
            <p:ph hasCustomPrompt="1" idx="14" type="title"/>
          </p:nvPr>
        </p:nvSpPr>
        <p:spPr>
          <a:xfrm>
            <a:off x="715100" y="3818200"/>
            <a:ext cx="649200" cy="5238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p:nvPr>
            <p:ph idx="15" type="subTitle"/>
          </p:nvPr>
        </p:nvSpPr>
        <p:spPr>
          <a:xfrm>
            <a:off x="1364300" y="3818200"/>
            <a:ext cx="7064700" cy="5238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bg>
      <p:bgPr>
        <a:gradFill>
          <a:gsLst>
            <a:gs pos="0">
              <a:schemeClr val="accent6"/>
            </a:gs>
            <a:gs pos="100000">
              <a:schemeClr val="accent1"/>
            </a:gs>
          </a:gsLst>
          <a:lin ang="16198662" scaled="0"/>
        </a:gradFill>
      </p:bgPr>
    </p:bg>
    <p:spTree>
      <p:nvGrpSpPr>
        <p:cNvPr id="91" name="Shape 91"/>
        <p:cNvGrpSpPr/>
        <p:nvPr/>
      </p:nvGrpSpPr>
      <p:grpSpPr>
        <a:xfrm>
          <a:off x="0" y="0"/>
          <a:ext cx="0" cy="0"/>
          <a:chOff x="0" y="0"/>
          <a:chExt cx="0" cy="0"/>
        </a:xfrm>
      </p:grpSpPr>
      <p:sp>
        <p:nvSpPr>
          <p:cNvPr id="92" name="Google Shape;92;p14"/>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txBox="1"/>
          <p:nvPr>
            <p:ph type="title"/>
          </p:nvPr>
        </p:nvSpPr>
        <p:spPr>
          <a:xfrm>
            <a:off x="715100" y="535000"/>
            <a:ext cx="7713900" cy="664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9pPr>
          </a:lstStyle>
          <a:p/>
        </p:txBody>
      </p:sp>
      <p:sp>
        <p:nvSpPr>
          <p:cNvPr id="94" name="Google Shape;94;p14"/>
          <p:cNvSpPr txBox="1"/>
          <p:nvPr>
            <p:ph idx="1" type="subTitle"/>
          </p:nvPr>
        </p:nvSpPr>
        <p:spPr>
          <a:xfrm>
            <a:off x="715100" y="1887425"/>
            <a:ext cx="24861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5" name="Google Shape;95;p14"/>
          <p:cNvSpPr txBox="1"/>
          <p:nvPr>
            <p:ph idx="2" type="subTitle"/>
          </p:nvPr>
        </p:nvSpPr>
        <p:spPr>
          <a:xfrm>
            <a:off x="715100" y="2228825"/>
            <a:ext cx="2486100" cy="1451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6" name="Google Shape;96;p14"/>
          <p:cNvSpPr txBox="1"/>
          <p:nvPr>
            <p:ph idx="3" type="subTitle"/>
          </p:nvPr>
        </p:nvSpPr>
        <p:spPr>
          <a:xfrm>
            <a:off x="3328800" y="1887425"/>
            <a:ext cx="24861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7" name="Google Shape;97;p14"/>
          <p:cNvSpPr txBox="1"/>
          <p:nvPr>
            <p:ph idx="4" type="subTitle"/>
          </p:nvPr>
        </p:nvSpPr>
        <p:spPr>
          <a:xfrm>
            <a:off x="3328800" y="2228825"/>
            <a:ext cx="2486100" cy="1451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 name="Google Shape;98;p14"/>
          <p:cNvSpPr txBox="1"/>
          <p:nvPr>
            <p:ph idx="5" type="subTitle"/>
          </p:nvPr>
        </p:nvSpPr>
        <p:spPr>
          <a:xfrm>
            <a:off x="5942800" y="1887425"/>
            <a:ext cx="24861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9" name="Google Shape;99;p14"/>
          <p:cNvSpPr txBox="1"/>
          <p:nvPr>
            <p:ph idx="6" type="subTitle"/>
          </p:nvPr>
        </p:nvSpPr>
        <p:spPr>
          <a:xfrm>
            <a:off x="5942800" y="2228825"/>
            <a:ext cx="2486100" cy="1451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bg>
      <p:bgPr>
        <a:gradFill>
          <a:gsLst>
            <a:gs pos="0">
              <a:schemeClr val="accent6"/>
            </a:gs>
            <a:gs pos="100000">
              <a:schemeClr val="accent1"/>
            </a:gs>
          </a:gsLst>
          <a:lin ang="5400700" scaled="0"/>
        </a:gradFill>
      </p:bgPr>
    </p:bg>
    <p:spTree>
      <p:nvGrpSpPr>
        <p:cNvPr id="100" name="Shape 100"/>
        <p:cNvGrpSpPr/>
        <p:nvPr/>
      </p:nvGrpSpPr>
      <p:grpSpPr>
        <a:xfrm>
          <a:off x="0" y="0"/>
          <a:ext cx="0" cy="0"/>
          <a:chOff x="0" y="0"/>
          <a:chExt cx="0" cy="0"/>
        </a:xfrm>
      </p:grpSpPr>
      <p:sp>
        <p:nvSpPr>
          <p:cNvPr id="101" name="Google Shape;101;p15"/>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txBox="1"/>
          <p:nvPr>
            <p:ph type="title"/>
          </p:nvPr>
        </p:nvSpPr>
        <p:spPr>
          <a:xfrm>
            <a:off x="715100" y="535000"/>
            <a:ext cx="7713900" cy="664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9pPr>
          </a:lstStyle>
          <a:p/>
        </p:txBody>
      </p:sp>
      <p:sp>
        <p:nvSpPr>
          <p:cNvPr id="103" name="Google Shape;103;p15"/>
          <p:cNvSpPr txBox="1"/>
          <p:nvPr>
            <p:ph idx="1" type="subTitle"/>
          </p:nvPr>
        </p:nvSpPr>
        <p:spPr>
          <a:xfrm>
            <a:off x="961444" y="1533475"/>
            <a:ext cx="33642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4" name="Google Shape;104;p15"/>
          <p:cNvSpPr txBox="1"/>
          <p:nvPr>
            <p:ph idx="2" type="subTitle"/>
          </p:nvPr>
        </p:nvSpPr>
        <p:spPr>
          <a:xfrm>
            <a:off x="961444" y="1874875"/>
            <a:ext cx="3364200" cy="713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 name="Google Shape;105;p15"/>
          <p:cNvSpPr txBox="1"/>
          <p:nvPr>
            <p:ph idx="3" type="subTitle"/>
          </p:nvPr>
        </p:nvSpPr>
        <p:spPr>
          <a:xfrm>
            <a:off x="961444" y="2817175"/>
            <a:ext cx="33642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6" name="Google Shape;106;p15"/>
          <p:cNvSpPr txBox="1"/>
          <p:nvPr>
            <p:ph idx="4" type="subTitle"/>
          </p:nvPr>
        </p:nvSpPr>
        <p:spPr>
          <a:xfrm>
            <a:off x="961444" y="3158575"/>
            <a:ext cx="3364200" cy="89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7" name="Google Shape;107;p15"/>
          <p:cNvSpPr txBox="1"/>
          <p:nvPr>
            <p:ph idx="5" type="subTitle"/>
          </p:nvPr>
        </p:nvSpPr>
        <p:spPr>
          <a:xfrm>
            <a:off x="4818356" y="1533475"/>
            <a:ext cx="33642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8" name="Google Shape;108;p15"/>
          <p:cNvSpPr txBox="1"/>
          <p:nvPr>
            <p:ph idx="6" type="subTitle"/>
          </p:nvPr>
        </p:nvSpPr>
        <p:spPr>
          <a:xfrm>
            <a:off x="4818356" y="1874875"/>
            <a:ext cx="3364200" cy="713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9" name="Google Shape;109;p15"/>
          <p:cNvSpPr txBox="1"/>
          <p:nvPr>
            <p:ph idx="7" type="subTitle"/>
          </p:nvPr>
        </p:nvSpPr>
        <p:spPr>
          <a:xfrm>
            <a:off x="4818356" y="2817175"/>
            <a:ext cx="33642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0" name="Google Shape;110;p15"/>
          <p:cNvSpPr txBox="1"/>
          <p:nvPr>
            <p:ph idx="8" type="subTitle"/>
          </p:nvPr>
        </p:nvSpPr>
        <p:spPr>
          <a:xfrm>
            <a:off x="4818356" y="3158575"/>
            <a:ext cx="3364200" cy="894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bg>
      <p:bgPr>
        <a:gradFill>
          <a:gsLst>
            <a:gs pos="0">
              <a:schemeClr val="accent6"/>
            </a:gs>
            <a:gs pos="100000">
              <a:schemeClr val="accent1"/>
            </a:gs>
          </a:gsLst>
          <a:lin ang="16198662" scaled="0"/>
        </a:gradFill>
      </p:bgPr>
    </p:bg>
    <p:spTree>
      <p:nvGrpSpPr>
        <p:cNvPr id="111" name="Shape 111"/>
        <p:cNvGrpSpPr/>
        <p:nvPr/>
      </p:nvGrpSpPr>
      <p:grpSpPr>
        <a:xfrm>
          <a:off x="0" y="0"/>
          <a:ext cx="0" cy="0"/>
          <a:chOff x="0" y="0"/>
          <a:chExt cx="0" cy="0"/>
        </a:xfrm>
      </p:grpSpPr>
      <p:sp>
        <p:nvSpPr>
          <p:cNvPr id="112" name="Google Shape;112;p16"/>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txBox="1"/>
          <p:nvPr>
            <p:ph type="title"/>
          </p:nvPr>
        </p:nvSpPr>
        <p:spPr>
          <a:xfrm>
            <a:off x="715100" y="535000"/>
            <a:ext cx="7713900" cy="664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9pPr>
          </a:lstStyle>
          <a:p/>
        </p:txBody>
      </p:sp>
      <p:sp>
        <p:nvSpPr>
          <p:cNvPr id="114" name="Google Shape;114;p16"/>
          <p:cNvSpPr txBox="1"/>
          <p:nvPr>
            <p:ph idx="1" type="subTitle"/>
          </p:nvPr>
        </p:nvSpPr>
        <p:spPr>
          <a:xfrm>
            <a:off x="715100" y="1533475"/>
            <a:ext cx="24861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5" name="Google Shape;115;p16"/>
          <p:cNvSpPr txBox="1"/>
          <p:nvPr>
            <p:ph idx="2" type="subTitle"/>
          </p:nvPr>
        </p:nvSpPr>
        <p:spPr>
          <a:xfrm>
            <a:off x="715100" y="1874875"/>
            <a:ext cx="2486100" cy="899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 name="Google Shape;116;p16"/>
          <p:cNvSpPr txBox="1"/>
          <p:nvPr>
            <p:ph idx="3" type="subTitle"/>
          </p:nvPr>
        </p:nvSpPr>
        <p:spPr>
          <a:xfrm>
            <a:off x="715100" y="2817175"/>
            <a:ext cx="24861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7" name="Google Shape;117;p16"/>
          <p:cNvSpPr txBox="1"/>
          <p:nvPr>
            <p:ph idx="4" type="subTitle"/>
          </p:nvPr>
        </p:nvSpPr>
        <p:spPr>
          <a:xfrm>
            <a:off x="715100" y="3158575"/>
            <a:ext cx="2486100" cy="899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8" name="Google Shape;118;p16"/>
          <p:cNvSpPr txBox="1"/>
          <p:nvPr>
            <p:ph idx="5" type="subTitle"/>
          </p:nvPr>
        </p:nvSpPr>
        <p:spPr>
          <a:xfrm>
            <a:off x="3328950" y="1533475"/>
            <a:ext cx="24861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9" name="Google Shape;119;p16"/>
          <p:cNvSpPr txBox="1"/>
          <p:nvPr>
            <p:ph idx="6" type="subTitle"/>
          </p:nvPr>
        </p:nvSpPr>
        <p:spPr>
          <a:xfrm>
            <a:off x="3328950" y="1874875"/>
            <a:ext cx="2486100" cy="899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0" name="Google Shape;120;p16"/>
          <p:cNvSpPr txBox="1"/>
          <p:nvPr>
            <p:ph idx="7" type="subTitle"/>
          </p:nvPr>
        </p:nvSpPr>
        <p:spPr>
          <a:xfrm>
            <a:off x="3328950" y="2817175"/>
            <a:ext cx="24861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1" name="Google Shape;121;p16"/>
          <p:cNvSpPr txBox="1"/>
          <p:nvPr>
            <p:ph idx="8" type="subTitle"/>
          </p:nvPr>
        </p:nvSpPr>
        <p:spPr>
          <a:xfrm>
            <a:off x="3328950" y="3158575"/>
            <a:ext cx="2486100" cy="899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2" name="Google Shape;122;p16"/>
          <p:cNvSpPr txBox="1"/>
          <p:nvPr>
            <p:ph idx="9" type="subTitle"/>
          </p:nvPr>
        </p:nvSpPr>
        <p:spPr>
          <a:xfrm>
            <a:off x="5942800" y="1533475"/>
            <a:ext cx="24861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3" name="Google Shape;123;p16"/>
          <p:cNvSpPr txBox="1"/>
          <p:nvPr>
            <p:ph idx="13" type="subTitle"/>
          </p:nvPr>
        </p:nvSpPr>
        <p:spPr>
          <a:xfrm>
            <a:off x="5942800" y="1874875"/>
            <a:ext cx="2486100" cy="899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4" name="Google Shape;124;p16"/>
          <p:cNvSpPr txBox="1"/>
          <p:nvPr>
            <p:ph idx="14" type="subTitle"/>
          </p:nvPr>
        </p:nvSpPr>
        <p:spPr>
          <a:xfrm>
            <a:off x="5942800" y="2817175"/>
            <a:ext cx="2486100" cy="493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2000">
                <a:solidFill>
                  <a:schemeClr val="dk1"/>
                </a:solidFill>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5" name="Google Shape;125;p16"/>
          <p:cNvSpPr txBox="1"/>
          <p:nvPr>
            <p:ph idx="15" type="subTitle"/>
          </p:nvPr>
        </p:nvSpPr>
        <p:spPr>
          <a:xfrm>
            <a:off x="5942800" y="3158575"/>
            <a:ext cx="2486100" cy="899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gradFill>
          <a:gsLst>
            <a:gs pos="0">
              <a:schemeClr val="accent6"/>
            </a:gs>
            <a:gs pos="100000">
              <a:schemeClr val="accent1"/>
            </a:gs>
          </a:gsLst>
          <a:lin ang="5400700" scaled="0"/>
        </a:gradFill>
      </p:bgPr>
    </p:bg>
    <p:spTree>
      <p:nvGrpSpPr>
        <p:cNvPr id="126" name="Shape 126"/>
        <p:cNvGrpSpPr/>
        <p:nvPr/>
      </p:nvGrpSpPr>
      <p:grpSpPr>
        <a:xfrm>
          <a:off x="0" y="0"/>
          <a:ext cx="0" cy="0"/>
          <a:chOff x="0" y="0"/>
          <a:chExt cx="0" cy="0"/>
        </a:xfrm>
      </p:grpSpPr>
      <p:sp>
        <p:nvSpPr>
          <p:cNvPr id="127" name="Google Shape;127;p17"/>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txBox="1"/>
          <p:nvPr>
            <p:ph hasCustomPrompt="1" type="title"/>
          </p:nvPr>
        </p:nvSpPr>
        <p:spPr>
          <a:xfrm>
            <a:off x="715100" y="831650"/>
            <a:ext cx="4066200" cy="7869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4000">
                <a:solidFill>
                  <a:schemeClr val="accent2"/>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29" name="Google Shape;129;p17"/>
          <p:cNvSpPr txBox="1"/>
          <p:nvPr>
            <p:ph idx="1" type="subTitle"/>
          </p:nvPr>
        </p:nvSpPr>
        <p:spPr>
          <a:xfrm>
            <a:off x="715100" y="1466150"/>
            <a:ext cx="4066200" cy="402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0" name="Google Shape;130;p17"/>
          <p:cNvSpPr txBox="1"/>
          <p:nvPr>
            <p:ph hasCustomPrompt="1" idx="2" type="title"/>
          </p:nvPr>
        </p:nvSpPr>
        <p:spPr>
          <a:xfrm>
            <a:off x="715100" y="2020850"/>
            <a:ext cx="4066200" cy="7869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4000">
                <a:solidFill>
                  <a:schemeClr val="accent2"/>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31" name="Google Shape;131;p17"/>
          <p:cNvSpPr txBox="1"/>
          <p:nvPr>
            <p:ph idx="3" type="subTitle"/>
          </p:nvPr>
        </p:nvSpPr>
        <p:spPr>
          <a:xfrm>
            <a:off x="715100" y="2655350"/>
            <a:ext cx="4066200" cy="402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2" name="Google Shape;132;p17"/>
          <p:cNvSpPr txBox="1"/>
          <p:nvPr>
            <p:ph hasCustomPrompt="1" idx="4" type="title"/>
          </p:nvPr>
        </p:nvSpPr>
        <p:spPr>
          <a:xfrm>
            <a:off x="715100" y="3210050"/>
            <a:ext cx="4066200" cy="7869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4000">
                <a:solidFill>
                  <a:schemeClr val="accent2"/>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33" name="Google Shape;133;p17"/>
          <p:cNvSpPr txBox="1"/>
          <p:nvPr>
            <p:ph idx="5" type="subTitle"/>
          </p:nvPr>
        </p:nvSpPr>
        <p:spPr>
          <a:xfrm>
            <a:off x="715100" y="3844550"/>
            <a:ext cx="4066200" cy="402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bg>
      <p:bgPr>
        <a:gradFill>
          <a:gsLst>
            <a:gs pos="0">
              <a:schemeClr val="accent6"/>
            </a:gs>
            <a:gs pos="100000">
              <a:schemeClr val="accent1"/>
            </a:gs>
          </a:gsLst>
          <a:lin ang="16198662" scaled="0"/>
        </a:gradFill>
      </p:bgPr>
    </p:bg>
    <p:spTree>
      <p:nvGrpSpPr>
        <p:cNvPr id="134" name="Shape 134"/>
        <p:cNvGrpSpPr/>
        <p:nvPr/>
      </p:nvGrpSpPr>
      <p:grpSpPr>
        <a:xfrm>
          <a:off x="0" y="0"/>
          <a:ext cx="0" cy="0"/>
          <a:chOff x="0" y="0"/>
          <a:chExt cx="0" cy="0"/>
        </a:xfrm>
      </p:grpSpPr>
      <p:sp>
        <p:nvSpPr>
          <p:cNvPr id="135" name="Google Shape;135;p18"/>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8"/>
          <p:cNvSpPr txBox="1"/>
          <p:nvPr>
            <p:ph type="title"/>
          </p:nvPr>
        </p:nvSpPr>
        <p:spPr>
          <a:xfrm>
            <a:off x="715100" y="535000"/>
            <a:ext cx="7713900" cy="664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1">
    <p:bg>
      <p:bgPr>
        <a:gradFill>
          <a:gsLst>
            <a:gs pos="0">
              <a:schemeClr val="accent6"/>
            </a:gs>
            <a:gs pos="100000">
              <a:schemeClr val="accent1"/>
            </a:gs>
          </a:gsLst>
          <a:lin ang="10800025" scaled="0"/>
        </a:gradFill>
      </p:bgPr>
    </p:bg>
    <p:spTree>
      <p:nvGrpSpPr>
        <p:cNvPr id="137" name="Shape 137"/>
        <p:cNvGrpSpPr/>
        <p:nvPr/>
      </p:nvGrpSpPr>
      <p:grpSpPr>
        <a:xfrm>
          <a:off x="0" y="0"/>
          <a:ext cx="0" cy="0"/>
          <a:chOff x="0" y="0"/>
          <a:chExt cx="0" cy="0"/>
        </a:xfrm>
      </p:grpSpPr>
      <p:sp>
        <p:nvSpPr>
          <p:cNvPr id="138" name="Google Shape;138;p19"/>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9"/>
          <p:cNvSpPr txBox="1"/>
          <p:nvPr>
            <p:ph type="title"/>
          </p:nvPr>
        </p:nvSpPr>
        <p:spPr>
          <a:xfrm>
            <a:off x="715100" y="535000"/>
            <a:ext cx="7713900" cy="664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bg>
      <p:bgPr>
        <a:gradFill>
          <a:gsLst>
            <a:gs pos="0">
              <a:schemeClr val="accent6"/>
            </a:gs>
            <a:gs pos="100000">
              <a:schemeClr val="accent1"/>
            </a:gs>
          </a:gsLst>
          <a:lin ang="5400700" scaled="0"/>
        </a:gradFill>
      </p:bgPr>
    </p:bg>
    <p:spTree>
      <p:nvGrpSpPr>
        <p:cNvPr id="140" name="Shape 140"/>
        <p:cNvGrpSpPr/>
        <p:nvPr/>
      </p:nvGrpSpPr>
      <p:grpSpPr>
        <a:xfrm>
          <a:off x="0" y="0"/>
          <a:ext cx="0" cy="0"/>
          <a:chOff x="0" y="0"/>
          <a:chExt cx="0" cy="0"/>
        </a:xfrm>
      </p:grpSpPr>
      <p:sp>
        <p:nvSpPr>
          <p:cNvPr id="141" name="Google Shape;141;p20"/>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0"/>
          <p:cNvSpPr txBox="1"/>
          <p:nvPr>
            <p:ph type="ctrTitle"/>
          </p:nvPr>
        </p:nvSpPr>
        <p:spPr>
          <a:xfrm>
            <a:off x="1225400" y="649438"/>
            <a:ext cx="2836200" cy="974400"/>
          </a:xfrm>
          <a:prstGeom prst="rect">
            <a:avLst/>
          </a:prstGeom>
        </p:spPr>
        <p:txBody>
          <a:bodyPr anchorCtr="0" anchor="b" bIns="91425" lIns="91425" spcFirstLastPara="1" rIns="91425" wrap="square" tIns="91425">
            <a:noAutofit/>
          </a:bodyPr>
          <a:lstStyle>
            <a:lvl1pPr lvl="0" rtl="0">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3" name="Google Shape;143;p20"/>
          <p:cNvSpPr txBox="1"/>
          <p:nvPr>
            <p:ph idx="1" type="subTitle"/>
          </p:nvPr>
        </p:nvSpPr>
        <p:spPr>
          <a:xfrm>
            <a:off x="1225400" y="1623838"/>
            <a:ext cx="2836200" cy="116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44" name="Google Shape;144;p20"/>
          <p:cNvSpPr txBox="1"/>
          <p:nvPr/>
        </p:nvSpPr>
        <p:spPr>
          <a:xfrm>
            <a:off x="1225400" y="3479463"/>
            <a:ext cx="2836200" cy="61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Albert Sans"/>
                <a:ea typeface="Albert Sans"/>
                <a:cs typeface="Albert Sans"/>
                <a:sym typeface="Albert Sans"/>
              </a:rPr>
              <a:t>CREDITS: This presentation template was created by </a:t>
            </a:r>
            <a:r>
              <a:rPr b="1" lang="en" sz="900">
                <a:solidFill>
                  <a:schemeClr val="dk1"/>
                </a:solidFill>
                <a:uFill>
                  <a:noFill/>
                </a:uFill>
                <a:latin typeface="Albert Sans"/>
                <a:ea typeface="Albert Sans"/>
                <a:cs typeface="Albert Sans"/>
                <a:sym typeface="Albert Sans"/>
                <a:hlinkClick r:id="rId2">
                  <a:extLst>
                    <a:ext uri="{A12FA001-AC4F-418D-AE19-62706E023703}">
                      <ahyp:hlinkClr val="tx"/>
                    </a:ext>
                  </a:extLst>
                </a:hlinkClick>
              </a:rPr>
              <a:t>Slidesgo</a:t>
            </a:r>
            <a:r>
              <a:rPr lang="en" sz="900">
                <a:solidFill>
                  <a:schemeClr val="dk1"/>
                </a:solidFill>
                <a:latin typeface="Albert Sans"/>
                <a:ea typeface="Albert Sans"/>
                <a:cs typeface="Albert Sans"/>
                <a:sym typeface="Albert Sans"/>
              </a:rPr>
              <a:t>, and includes icons by </a:t>
            </a:r>
            <a:r>
              <a:rPr b="1" lang="en" sz="9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Flaticon</a:t>
            </a:r>
            <a:r>
              <a:rPr b="1" lang="en" sz="900">
                <a:solidFill>
                  <a:schemeClr val="dk1"/>
                </a:solidFill>
                <a:latin typeface="Albert Sans"/>
                <a:ea typeface="Albert Sans"/>
                <a:cs typeface="Albert Sans"/>
                <a:sym typeface="Albert Sans"/>
              </a:rPr>
              <a:t> </a:t>
            </a:r>
            <a:r>
              <a:rPr lang="en" sz="900">
                <a:solidFill>
                  <a:schemeClr val="dk1"/>
                </a:solidFill>
                <a:latin typeface="Albert Sans"/>
                <a:ea typeface="Albert Sans"/>
                <a:cs typeface="Albert Sans"/>
                <a:sym typeface="Albert Sans"/>
              </a:rPr>
              <a:t>and infographics &amp; images by </a:t>
            </a:r>
            <a:r>
              <a:rPr b="1" lang="en" sz="900">
                <a:solidFill>
                  <a:schemeClr val="dk1"/>
                </a:solidFill>
                <a:uFill>
                  <a:noFill/>
                </a:uFill>
                <a:latin typeface="Albert Sans"/>
                <a:ea typeface="Albert Sans"/>
                <a:cs typeface="Albert Sans"/>
                <a:sym typeface="Albert Sans"/>
                <a:hlinkClick r:id="rId4">
                  <a:extLst>
                    <a:ext uri="{A12FA001-AC4F-418D-AE19-62706E023703}">
                      <ahyp:hlinkClr val="tx"/>
                    </a:ext>
                  </a:extLst>
                </a:hlinkClick>
              </a:rPr>
              <a:t>Freepik</a:t>
            </a:r>
            <a:endParaRPr b="1" sz="900">
              <a:solidFill>
                <a:schemeClr val="dk1"/>
              </a:solidFill>
              <a:latin typeface="Albert Sans"/>
              <a:ea typeface="Albert Sans"/>
              <a:cs typeface="Albert Sans"/>
              <a:sym typeface="Albert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bg>
      <p:bgPr>
        <a:gradFill>
          <a:gsLst>
            <a:gs pos="0">
              <a:schemeClr val="accent6"/>
            </a:gs>
            <a:gs pos="100000">
              <a:schemeClr val="accent1"/>
            </a:gs>
          </a:gsLst>
          <a:lin ang="10801400" scaled="0"/>
        </a:gradFill>
      </p:bgPr>
    </p:bg>
    <p:spTree>
      <p:nvGrpSpPr>
        <p:cNvPr id="145" name="Shape 145"/>
        <p:cNvGrpSpPr/>
        <p:nvPr/>
      </p:nvGrpSpPr>
      <p:grpSpPr>
        <a:xfrm>
          <a:off x="0" y="0"/>
          <a:ext cx="0" cy="0"/>
          <a:chOff x="0" y="0"/>
          <a:chExt cx="0" cy="0"/>
        </a:xfrm>
      </p:grpSpPr>
      <p:sp>
        <p:nvSpPr>
          <p:cNvPr id="146" name="Google Shape;146;p21"/>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1"/>
          <p:cNvSpPr/>
          <p:nvPr/>
        </p:nvSpPr>
        <p:spPr>
          <a:xfrm>
            <a:off x="975650" y="3777037"/>
            <a:ext cx="555600" cy="5556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1"/>
          <p:cNvSpPr/>
          <p:nvPr/>
        </p:nvSpPr>
        <p:spPr>
          <a:xfrm>
            <a:off x="886925" y="3053825"/>
            <a:ext cx="283500" cy="2835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1"/>
          <p:cNvSpPr/>
          <p:nvPr/>
        </p:nvSpPr>
        <p:spPr>
          <a:xfrm>
            <a:off x="1073825" y="3221063"/>
            <a:ext cx="151500" cy="151500"/>
          </a:xfrm>
          <a:prstGeom prst="ellipse">
            <a:avLst/>
          </a:prstGeom>
          <a:gradFill>
            <a:gsLst>
              <a:gs pos="0">
                <a:schemeClr val="accent3">
                  <a:alpha val="10000"/>
                </a:schemeClr>
              </a:gs>
              <a:gs pos="100000">
                <a:schemeClr val="accent2">
                  <a:alpha val="10000"/>
                </a:scheme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 name="Google Shape;150;p21"/>
          <p:cNvGrpSpPr/>
          <p:nvPr/>
        </p:nvGrpSpPr>
        <p:grpSpPr>
          <a:xfrm>
            <a:off x="1225335" y="3471179"/>
            <a:ext cx="835711" cy="835711"/>
            <a:chOff x="1221094" y="2847175"/>
            <a:chExt cx="554700" cy="554700"/>
          </a:xfrm>
        </p:grpSpPr>
        <p:sp>
          <p:nvSpPr>
            <p:cNvPr id="151" name="Google Shape;151;p21"/>
            <p:cNvSpPr/>
            <p:nvPr/>
          </p:nvSpPr>
          <p:spPr>
            <a:xfrm>
              <a:off x="1221094" y="2847175"/>
              <a:ext cx="554700" cy="5547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1"/>
            <p:cNvSpPr/>
            <p:nvPr/>
          </p:nvSpPr>
          <p:spPr>
            <a:xfrm>
              <a:off x="1288144" y="2914222"/>
              <a:ext cx="420600" cy="420600"/>
            </a:xfrm>
            <a:prstGeom prst="ellipse">
              <a:avLst/>
            </a:prstGeom>
            <a:gradFill>
              <a:gsLst>
                <a:gs pos="0">
                  <a:schemeClr val="dk2"/>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21"/>
            <p:cNvGrpSpPr/>
            <p:nvPr/>
          </p:nvGrpSpPr>
          <p:grpSpPr>
            <a:xfrm>
              <a:off x="1389861" y="2980064"/>
              <a:ext cx="217166" cy="258028"/>
              <a:chOff x="-48233050" y="3569725"/>
              <a:chExt cx="252050" cy="299475"/>
            </a:xfrm>
          </p:grpSpPr>
          <p:sp>
            <p:nvSpPr>
              <p:cNvPr id="154" name="Google Shape;154;p21"/>
              <p:cNvSpPr/>
              <p:nvPr/>
            </p:nvSpPr>
            <p:spPr>
              <a:xfrm>
                <a:off x="-48233050" y="3569725"/>
                <a:ext cx="252050" cy="299475"/>
              </a:xfrm>
              <a:custGeom>
                <a:rect b="b" l="l" r="r" t="t"/>
                <a:pathLst>
                  <a:path extrusionOk="0" h="11979" w="10082">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1"/>
              <p:cNvSpPr/>
              <p:nvPr/>
            </p:nvSpPr>
            <p:spPr>
              <a:xfrm>
                <a:off x="-48170050" y="3622650"/>
                <a:ext cx="100050" cy="103225"/>
              </a:xfrm>
              <a:custGeom>
                <a:rect b="b" l="l" r="r" t="t"/>
                <a:pathLst>
                  <a:path extrusionOk="0" h="4129" w="4002">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1"/>
              <p:cNvSpPr/>
              <p:nvPr/>
            </p:nvSpPr>
            <p:spPr>
              <a:xfrm>
                <a:off x="-48129100" y="3665200"/>
                <a:ext cx="18150" cy="18125"/>
              </a:xfrm>
              <a:custGeom>
                <a:rect b="b" l="l" r="r" t="t"/>
                <a:pathLst>
                  <a:path extrusionOk="0" h="725" w="726">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gradFill>
          <a:gsLst>
            <a:gs pos="0">
              <a:schemeClr val="accent6"/>
            </a:gs>
            <a:gs pos="100000">
              <a:schemeClr val="accent1"/>
            </a:gs>
          </a:gsLst>
          <a:lin ang="18900044" scaled="0"/>
        </a:gradFill>
      </p:bgPr>
    </p:bg>
    <p:spTree>
      <p:nvGrpSpPr>
        <p:cNvPr id="157" name="Shape 157"/>
        <p:cNvGrpSpPr/>
        <p:nvPr/>
      </p:nvGrpSpPr>
      <p:grpSpPr>
        <a:xfrm>
          <a:off x="0" y="0"/>
          <a:ext cx="0" cy="0"/>
          <a:chOff x="0" y="0"/>
          <a:chExt cx="0" cy="0"/>
        </a:xfrm>
      </p:grpSpPr>
      <p:sp>
        <p:nvSpPr>
          <p:cNvPr id="158" name="Google Shape;158;p22"/>
          <p:cNvSpPr/>
          <p:nvPr/>
        </p:nvSpPr>
        <p:spPr>
          <a:xfrm>
            <a:off x="428100" y="399925"/>
            <a:ext cx="8287800" cy="4343700"/>
          </a:xfrm>
          <a:prstGeom prst="roundRect">
            <a:avLst>
              <a:gd fmla="val 6806" name="adj"/>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p:nvPr/>
        </p:nvSpPr>
        <p:spPr>
          <a:xfrm>
            <a:off x="7330037" y="744250"/>
            <a:ext cx="555600" cy="5556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 name="Google Shape;160;p22"/>
          <p:cNvGrpSpPr/>
          <p:nvPr/>
        </p:nvGrpSpPr>
        <p:grpSpPr>
          <a:xfrm>
            <a:off x="7558728" y="868951"/>
            <a:ext cx="835737" cy="835737"/>
            <a:chOff x="7774163" y="804325"/>
            <a:chExt cx="587100" cy="587100"/>
          </a:xfrm>
        </p:grpSpPr>
        <p:sp>
          <p:nvSpPr>
            <p:cNvPr id="161" name="Google Shape;161;p22"/>
            <p:cNvSpPr/>
            <p:nvPr/>
          </p:nvSpPr>
          <p:spPr>
            <a:xfrm>
              <a:off x="7774163" y="804325"/>
              <a:ext cx="587100" cy="587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2"/>
            <p:cNvSpPr/>
            <p:nvPr/>
          </p:nvSpPr>
          <p:spPr>
            <a:xfrm>
              <a:off x="7845113" y="875275"/>
              <a:ext cx="445200" cy="445200"/>
            </a:xfrm>
            <a:prstGeom prst="ellipse">
              <a:avLst/>
            </a:prstGeom>
            <a:gradFill>
              <a:gsLst>
                <a:gs pos="0">
                  <a:schemeClr val="accent3"/>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3" name="Google Shape;163;p22"/>
            <p:cNvGrpSpPr/>
            <p:nvPr/>
          </p:nvGrpSpPr>
          <p:grpSpPr>
            <a:xfrm>
              <a:off x="7941423" y="971571"/>
              <a:ext cx="252594" cy="252615"/>
              <a:chOff x="-44924250" y="3206000"/>
              <a:chExt cx="300100" cy="300125"/>
            </a:xfrm>
          </p:grpSpPr>
          <p:sp>
            <p:nvSpPr>
              <p:cNvPr id="164" name="Google Shape;164;p22"/>
              <p:cNvSpPr/>
              <p:nvPr/>
            </p:nvSpPr>
            <p:spPr>
              <a:xfrm>
                <a:off x="-44747025" y="3365100"/>
                <a:ext cx="122875" cy="87450"/>
              </a:xfrm>
              <a:custGeom>
                <a:rect b="b" l="l" r="r" t="t"/>
                <a:pathLst>
                  <a:path extrusionOk="0" h="3498" w="4915">
                    <a:moveTo>
                      <a:pt x="0" y="1"/>
                    </a:moveTo>
                    <a:lnTo>
                      <a:pt x="0" y="3498"/>
                    </a:lnTo>
                    <a:lnTo>
                      <a:pt x="4915" y="3498"/>
                    </a:lnTo>
                    <a:lnTo>
                      <a:pt x="491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2"/>
              <p:cNvSpPr/>
              <p:nvPr/>
            </p:nvSpPr>
            <p:spPr>
              <a:xfrm>
                <a:off x="-44747025" y="3470650"/>
                <a:ext cx="122875" cy="35475"/>
              </a:xfrm>
              <a:custGeom>
                <a:rect b="b" l="l" r="r" t="t"/>
                <a:pathLst>
                  <a:path extrusionOk="0" h="1419" w="4915">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2"/>
              <p:cNvSpPr/>
              <p:nvPr/>
            </p:nvSpPr>
            <p:spPr>
              <a:xfrm>
                <a:off x="-44747025" y="3313125"/>
                <a:ext cx="122875" cy="35475"/>
              </a:xfrm>
              <a:custGeom>
                <a:rect b="b" l="l" r="r" t="t"/>
                <a:pathLst>
                  <a:path extrusionOk="0" h="1419" w="4915">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2"/>
              <p:cNvSpPr/>
              <p:nvPr/>
            </p:nvSpPr>
            <p:spPr>
              <a:xfrm>
                <a:off x="-44924250" y="3384000"/>
                <a:ext cx="159125" cy="69350"/>
              </a:xfrm>
              <a:custGeom>
                <a:rect b="b" l="l" r="r" t="t"/>
                <a:pathLst>
                  <a:path extrusionOk="0" h="2774" w="6365">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2"/>
              <p:cNvSpPr/>
              <p:nvPr/>
            </p:nvSpPr>
            <p:spPr>
              <a:xfrm>
                <a:off x="-44924250" y="3206000"/>
                <a:ext cx="264675" cy="159125"/>
              </a:xfrm>
              <a:custGeom>
                <a:rect b="b" l="l" r="r" t="t"/>
                <a:pathLst>
                  <a:path extrusionOk="0" h="6365" w="10587">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9" name="Google Shape;169;p22"/>
          <p:cNvSpPr/>
          <p:nvPr/>
        </p:nvSpPr>
        <p:spPr>
          <a:xfrm>
            <a:off x="1367688" y="3955763"/>
            <a:ext cx="283500" cy="2835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2"/>
          <p:cNvSpPr/>
          <p:nvPr/>
        </p:nvSpPr>
        <p:spPr>
          <a:xfrm>
            <a:off x="1554588" y="4123000"/>
            <a:ext cx="151500" cy="151500"/>
          </a:xfrm>
          <a:prstGeom prst="ellipse">
            <a:avLst/>
          </a:prstGeom>
          <a:gradFill>
            <a:gsLst>
              <a:gs pos="0">
                <a:schemeClr val="accent3">
                  <a:alpha val="10000"/>
                </a:schemeClr>
              </a:gs>
              <a:gs pos="100000">
                <a:schemeClr val="accent2">
                  <a:alpha val="10000"/>
                </a:scheme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 name="Google Shape;171;p22"/>
          <p:cNvGrpSpPr/>
          <p:nvPr/>
        </p:nvGrpSpPr>
        <p:grpSpPr>
          <a:xfrm>
            <a:off x="745764" y="3292399"/>
            <a:ext cx="554809" cy="554809"/>
            <a:chOff x="5724800" y="2169125"/>
            <a:chExt cx="587100" cy="587100"/>
          </a:xfrm>
        </p:grpSpPr>
        <p:sp>
          <p:nvSpPr>
            <p:cNvPr id="172" name="Google Shape;172;p22"/>
            <p:cNvSpPr/>
            <p:nvPr/>
          </p:nvSpPr>
          <p:spPr>
            <a:xfrm>
              <a:off x="5724800" y="2169125"/>
              <a:ext cx="587100" cy="587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2"/>
            <p:cNvSpPr/>
            <p:nvPr/>
          </p:nvSpPr>
          <p:spPr>
            <a:xfrm>
              <a:off x="5795750" y="2240075"/>
              <a:ext cx="445200" cy="445200"/>
            </a:xfrm>
            <a:prstGeom prst="ellipse">
              <a:avLst/>
            </a:prstGeom>
            <a:gradFill>
              <a:gsLst>
                <a:gs pos="0">
                  <a:schemeClr val="dk2"/>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2"/>
            <p:cNvSpPr/>
            <p:nvPr/>
          </p:nvSpPr>
          <p:spPr>
            <a:xfrm>
              <a:off x="5889083" y="2332610"/>
              <a:ext cx="258497" cy="260131"/>
            </a:xfrm>
            <a:custGeom>
              <a:rect b="b" l="l" r="r" t="t"/>
              <a:pathLst>
                <a:path extrusionOk="0" h="42505" w="42238">
                  <a:moveTo>
                    <a:pt x="21119" y="10637"/>
                  </a:moveTo>
                  <a:cubicBezTo>
                    <a:pt x="26971" y="10637"/>
                    <a:pt x="31734" y="15400"/>
                    <a:pt x="31734" y="21253"/>
                  </a:cubicBezTo>
                  <a:cubicBezTo>
                    <a:pt x="31734" y="27107"/>
                    <a:pt x="26971" y="31868"/>
                    <a:pt x="21119" y="31868"/>
                  </a:cubicBezTo>
                  <a:cubicBezTo>
                    <a:pt x="15264" y="31868"/>
                    <a:pt x="10503" y="27107"/>
                    <a:pt x="10503" y="21253"/>
                  </a:cubicBezTo>
                  <a:cubicBezTo>
                    <a:pt x="10503" y="15400"/>
                    <a:pt x="15264" y="10637"/>
                    <a:pt x="21119" y="10637"/>
                  </a:cubicBezTo>
                  <a:close/>
                  <a:moveTo>
                    <a:pt x="21732" y="0"/>
                  </a:moveTo>
                  <a:cubicBezTo>
                    <a:pt x="21732" y="0"/>
                    <a:pt x="21222" y="1034"/>
                    <a:pt x="20821" y="2142"/>
                  </a:cubicBezTo>
                  <a:cubicBezTo>
                    <a:pt x="20639" y="2622"/>
                    <a:pt x="20479" y="3095"/>
                    <a:pt x="20357" y="3480"/>
                  </a:cubicBezTo>
                  <a:cubicBezTo>
                    <a:pt x="20346" y="3483"/>
                    <a:pt x="20329" y="3483"/>
                    <a:pt x="20318" y="3483"/>
                  </a:cubicBezTo>
                  <a:cubicBezTo>
                    <a:pt x="19842" y="3513"/>
                    <a:pt x="19443" y="3513"/>
                    <a:pt x="19171" y="3570"/>
                  </a:cubicBezTo>
                  <a:cubicBezTo>
                    <a:pt x="18896" y="3612"/>
                    <a:pt x="18739" y="3635"/>
                    <a:pt x="18739" y="3635"/>
                  </a:cubicBezTo>
                  <a:cubicBezTo>
                    <a:pt x="18739" y="3635"/>
                    <a:pt x="18582" y="3660"/>
                    <a:pt x="18305" y="3702"/>
                  </a:cubicBezTo>
                  <a:cubicBezTo>
                    <a:pt x="18031" y="3743"/>
                    <a:pt x="17636" y="3792"/>
                    <a:pt x="17177" y="3926"/>
                  </a:cubicBezTo>
                  <a:cubicBezTo>
                    <a:pt x="17165" y="3928"/>
                    <a:pt x="17152" y="3933"/>
                    <a:pt x="17140" y="3935"/>
                  </a:cubicBezTo>
                  <a:cubicBezTo>
                    <a:pt x="16914" y="3603"/>
                    <a:pt x="16630" y="3196"/>
                    <a:pt x="16321" y="2790"/>
                  </a:cubicBezTo>
                  <a:cubicBezTo>
                    <a:pt x="15972" y="2326"/>
                    <a:pt x="15605" y="1869"/>
                    <a:pt x="15319" y="1530"/>
                  </a:cubicBezTo>
                  <a:cubicBezTo>
                    <a:pt x="15031" y="1186"/>
                    <a:pt x="14837" y="976"/>
                    <a:pt x="14837" y="976"/>
                  </a:cubicBezTo>
                  <a:cubicBezTo>
                    <a:pt x="14837" y="976"/>
                    <a:pt x="14532" y="1087"/>
                    <a:pt x="14078" y="1251"/>
                  </a:cubicBezTo>
                  <a:cubicBezTo>
                    <a:pt x="13628" y="1422"/>
                    <a:pt x="13009" y="1616"/>
                    <a:pt x="12437" y="1916"/>
                  </a:cubicBezTo>
                  <a:cubicBezTo>
                    <a:pt x="11862" y="2202"/>
                    <a:pt x="11267" y="2453"/>
                    <a:pt x="10858" y="2712"/>
                  </a:cubicBezTo>
                  <a:cubicBezTo>
                    <a:pt x="10445" y="2961"/>
                    <a:pt x="10168" y="3127"/>
                    <a:pt x="10168" y="3127"/>
                  </a:cubicBezTo>
                  <a:cubicBezTo>
                    <a:pt x="10168" y="3127"/>
                    <a:pt x="10311" y="4293"/>
                    <a:pt x="10549" y="5407"/>
                  </a:cubicBezTo>
                  <a:cubicBezTo>
                    <a:pt x="10657" y="5910"/>
                    <a:pt x="10782" y="6397"/>
                    <a:pt x="10891" y="6792"/>
                  </a:cubicBezTo>
                  <a:cubicBezTo>
                    <a:pt x="10881" y="6799"/>
                    <a:pt x="10870" y="6806"/>
                    <a:pt x="10861" y="6815"/>
                  </a:cubicBezTo>
                  <a:cubicBezTo>
                    <a:pt x="10477" y="7099"/>
                    <a:pt x="10159" y="7339"/>
                    <a:pt x="9937" y="7505"/>
                  </a:cubicBezTo>
                  <a:cubicBezTo>
                    <a:pt x="9732" y="7692"/>
                    <a:pt x="9612" y="7798"/>
                    <a:pt x="9612" y="7798"/>
                  </a:cubicBezTo>
                  <a:cubicBezTo>
                    <a:pt x="9612" y="7798"/>
                    <a:pt x="9494" y="7904"/>
                    <a:pt x="9289" y="8091"/>
                  </a:cubicBezTo>
                  <a:cubicBezTo>
                    <a:pt x="9093" y="8287"/>
                    <a:pt x="8770" y="8525"/>
                    <a:pt x="8458" y="8890"/>
                  </a:cubicBezTo>
                  <a:cubicBezTo>
                    <a:pt x="8451" y="8899"/>
                    <a:pt x="8440" y="8908"/>
                    <a:pt x="8433" y="8917"/>
                  </a:cubicBezTo>
                  <a:cubicBezTo>
                    <a:pt x="8063" y="8760"/>
                    <a:pt x="7604" y="8574"/>
                    <a:pt x="7127" y="8398"/>
                  </a:cubicBezTo>
                  <a:cubicBezTo>
                    <a:pt x="6046" y="7997"/>
                    <a:pt x="4897" y="7676"/>
                    <a:pt x="4897" y="7676"/>
                  </a:cubicBezTo>
                  <a:cubicBezTo>
                    <a:pt x="4897" y="7676"/>
                    <a:pt x="4844" y="7733"/>
                    <a:pt x="4761" y="7849"/>
                  </a:cubicBezTo>
                  <a:cubicBezTo>
                    <a:pt x="4676" y="7960"/>
                    <a:pt x="4556" y="8121"/>
                    <a:pt x="4410" y="8313"/>
                  </a:cubicBezTo>
                  <a:cubicBezTo>
                    <a:pt x="4133" y="8707"/>
                    <a:pt x="3706" y="9194"/>
                    <a:pt x="3388" y="9755"/>
                  </a:cubicBezTo>
                  <a:cubicBezTo>
                    <a:pt x="3056" y="10307"/>
                    <a:pt x="2707" y="10849"/>
                    <a:pt x="2486" y="11278"/>
                  </a:cubicBezTo>
                  <a:cubicBezTo>
                    <a:pt x="2276" y="11712"/>
                    <a:pt x="2135" y="12001"/>
                    <a:pt x="2135" y="12001"/>
                  </a:cubicBezTo>
                  <a:cubicBezTo>
                    <a:pt x="2135" y="12001"/>
                    <a:pt x="2887" y="12908"/>
                    <a:pt x="3686" y="13718"/>
                  </a:cubicBezTo>
                  <a:cubicBezTo>
                    <a:pt x="4046" y="14082"/>
                    <a:pt x="4413" y="14424"/>
                    <a:pt x="4717" y="14698"/>
                  </a:cubicBezTo>
                  <a:cubicBezTo>
                    <a:pt x="4713" y="14710"/>
                    <a:pt x="4706" y="14721"/>
                    <a:pt x="4701" y="14733"/>
                  </a:cubicBezTo>
                  <a:cubicBezTo>
                    <a:pt x="4537" y="15181"/>
                    <a:pt x="4401" y="15555"/>
                    <a:pt x="4306" y="15815"/>
                  </a:cubicBezTo>
                  <a:cubicBezTo>
                    <a:pt x="4253" y="15945"/>
                    <a:pt x="4230" y="16051"/>
                    <a:pt x="4212" y="16125"/>
                  </a:cubicBezTo>
                  <a:cubicBezTo>
                    <a:pt x="4193" y="16196"/>
                    <a:pt x="4184" y="16235"/>
                    <a:pt x="4184" y="16235"/>
                  </a:cubicBezTo>
                  <a:cubicBezTo>
                    <a:pt x="4184" y="16235"/>
                    <a:pt x="4013" y="16849"/>
                    <a:pt x="3799" y="17777"/>
                  </a:cubicBezTo>
                  <a:cubicBezTo>
                    <a:pt x="3796" y="17789"/>
                    <a:pt x="3794" y="17802"/>
                    <a:pt x="3794" y="17814"/>
                  </a:cubicBezTo>
                  <a:cubicBezTo>
                    <a:pt x="3399" y="17883"/>
                    <a:pt x="2915" y="17975"/>
                    <a:pt x="2421" y="18089"/>
                  </a:cubicBezTo>
                  <a:cubicBezTo>
                    <a:pt x="1299" y="18335"/>
                    <a:pt x="166" y="18691"/>
                    <a:pt x="166" y="18691"/>
                  </a:cubicBezTo>
                  <a:cubicBezTo>
                    <a:pt x="166" y="18691"/>
                    <a:pt x="99" y="19007"/>
                    <a:pt x="85" y="19489"/>
                  </a:cubicBezTo>
                  <a:cubicBezTo>
                    <a:pt x="62" y="19969"/>
                    <a:pt x="30" y="20611"/>
                    <a:pt x="0" y="21253"/>
                  </a:cubicBezTo>
                  <a:cubicBezTo>
                    <a:pt x="30" y="21894"/>
                    <a:pt x="62" y="22536"/>
                    <a:pt x="85" y="23016"/>
                  </a:cubicBezTo>
                  <a:cubicBezTo>
                    <a:pt x="99" y="23498"/>
                    <a:pt x="166" y="23814"/>
                    <a:pt x="166" y="23814"/>
                  </a:cubicBezTo>
                  <a:cubicBezTo>
                    <a:pt x="166" y="23814"/>
                    <a:pt x="1299" y="24170"/>
                    <a:pt x="2421" y="24417"/>
                  </a:cubicBezTo>
                  <a:cubicBezTo>
                    <a:pt x="2915" y="24527"/>
                    <a:pt x="3399" y="24622"/>
                    <a:pt x="3794" y="24691"/>
                  </a:cubicBezTo>
                  <a:cubicBezTo>
                    <a:pt x="3794" y="24703"/>
                    <a:pt x="3796" y="24717"/>
                    <a:pt x="3799" y="24728"/>
                  </a:cubicBezTo>
                  <a:cubicBezTo>
                    <a:pt x="4013" y="25656"/>
                    <a:pt x="4184" y="26270"/>
                    <a:pt x="4184" y="26270"/>
                  </a:cubicBezTo>
                  <a:cubicBezTo>
                    <a:pt x="4184" y="26270"/>
                    <a:pt x="4193" y="26309"/>
                    <a:pt x="4212" y="26380"/>
                  </a:cubicBezTo>
                  <a:cubicBezTo>
                    <a:pt x="4230" y="26452"/>
                    <a:pt x="4253" y="26560"/>
                    <a:pt x="4306" y="26690"/>
                  </a:cubicBezTo>
                  <a:cubicBezTo>
                    <a:pt x="4401" y="26950"/>
                    <a:pt x="4539" y="27324"/>
                    <a:pt x="4701" y="27772"/>
                  </a:cubicBezTo>
                  <a:cubicBezTo>
                    <a:pt x="4706" y="27781"/>
                    <a:pt x="4713" y="27795"/>
                    <a:pt x="4717" y="27807"/>
                  </a:cubicBezTo>
                  <a:cubicBezTo>
                    <a:pt x="4413" y="28079"/>
                    <a:pt x="4046" y="28423"/>
                    <a:pt x="3686" y="28787"/>
                  </a:cubicBezTo>
                  <a:cubicBezTo>
                    <a:pt x="2887" y="29595"/>
                    <a:pt x="2135" y="30502"/>
                    <a:pt x="2135" y="30502"/>
                  </a:cubicBezTo>
                  <a:cubicBezTo>
                    <a:pt x="2135" y="30502"/>
                    <a:pt x="2276" y="30793"/>
                    <a:pt x="2486" y="31227"/>
                  </a:cubicBezTo>
                  <a:cubicBezTo>
                    <a:pt x="2707" y="31656"/>
                    <a:pt x="3058" y="32198"/>
                    <a:pt x="3388" y="32750"/>
                  </a:cubicBezTo>
                  <a:cubicBezTo>
                    <a:pt x="3706" y="33311"/>
                    <a:pt x="4133" y="33798"/>
                    <a:pt x="4410" y="34192"/>
                  </a:cubicBezTo>
                  <a:cubicBezTo>
                    <a:pt x="4556" y="34384"/>
                    <a:pt x="4676" y="34543"/>
                    <a:pt x="4761" y="34656"/>
                  </a:cubicBezTo>
                  <a:cubicBezTo>
                    <a:pt x="4844" y="34769"/>
                    <a:pt x="4897" y="34829"/>
                    <a:pt x="4897" y="34829"/>
                  </a:cubicBezTo>
                  <a:cubicBezTo>
                    <a:pt x="4897" y="34829"/>
                    <a:pt x="6046" y="34509"/>
                    <a:pt x="7127" y="34105"/>
                  </a:cubicBezTo>
                  <a:cubicBezTo>
                    <a:pt x="7604" y="33932"/>
                    <a:pt x="8063" y="33745"/>
                    <a:pt x="8433" y="33588"/>
                  </a:cubicBezTo>
                  <a:cubicBezTo>
                    <a:pt x="8440" y="33597"/>
                    <a:pt x="8451" y="33606"/>
                    <a:pt x="8458" y="33615"/>
                  </a:cubicBezTo>
                  <a:cubicBezTo>
                    <a:pt x="8770" y="33978"/>
                    <a:pt x="9093" y="34215"/>
                    <a:pt x="9289" y="34412"/>
                  </a:cubicBezTo>
                  <a:cubicBezTo>
                    <a:pt x="9497" y="34599"/>
                    <a:pt x="9612" y="34707"/>
                    <a:pt x="9612" y="34707"/>
                  </a:cubicBezTo>
                  <a:cubicBezTo>
                    <a:pt x="9612" y="34707"/>
                    <a:pt x="9730" y="34813"/>
                    <a:pt x="9937" y="35000"/>
                  </a:cubicBezTo>
                  <a:cubicBezTo>
                    <a:pt x="10159" y="35166"/>
                    <a:pt x="10477" y="35404"/>
                    <a:pt x="10861" y="35690"/>
                  </a:cubicBezTo>
                  <a:cubicBezTo>
                    <a:pt x="10870" y="35697"/>
                    <a:pt x="10881" y="35706"/>
                    <a:pt x="10891" y="35713"/>
                  </a:cubicBezTo>
                  <a:cubicBezTo>
                    <a:pt x="10782" y="36106"/>
                    <a:pt x="10657" y="36592"/>
                    <a:pt x="10549" y="37096"/>
                  </a:cubicBezTo>
                  <a:cubicBezTo>
                    <a:pt x="10311" y="38213"/>
                    <a:pt x="10168" y="39376"/>
                    <a:pt x="10168" y="39376"/>
                  </a:cubicBezTo>
                  <a:cubicBezTo>
                    <a:pt x="10168" y="39376"/>
                    <a:pt x="10445" y="39544"/>
                    <a:pt x="10858" y="39793"/>
                  </a:cubicBezTo>
                  <a:cubicBezTo>
                    <a:pt x="11267" y="40050"/>
                    <a:pt x="11862" y="40303"/>
                    <a:pt x="12437" y="40590"/>
                  </a:cubicBezTo>
                  <a:cubicBezTo>
                    <a:pt x="13009" y="40887"/>
                    <a:pt x="13628" y="41081"/>
                    <a:pt x="14078" y="41254"/>
                  </a:cubicBezTo>
                  <a:cubicBezTo>
                    <a:pt x="14532" y="41418"/>
                    <a:pt x="14837" y="41527"/>
                    <a:pt x="14837" y="41527"/>
                  </a:cubicBezTo>
                  <a:cubicBezTo>
                    <a:pt x="14837" y="41527"/>
                    <a:pt x="15031" y="41317"/>
                    <a:pt x="15319" y="40973"/>
                  </a:cubicBezTo>
                  <a:cubicBezTo>
                    <a:pt x="15603" y="40633"/>
                    <a:pt x="15972" y="40176"/>
                    <a:pt x="16321" y="39715"/>
                  </a:cubicBezTo>
                  <a:cubicBezTo>
                    <a:pt x="16630" y="39309"/>
                    <a:pt x="16914" y="38903"/>
                    <a:pt x="17140" y="38568"/>
                  </a:cubicBezTo>
                  <a:cubicBezTo>
                    <a:pt x="17152" y="38570"/>
                    <a:pt x="17165" y="38575"/>
                    <a:pt x="17177" y="38577"/>
                  </a:cubicBezTo>
                  <a:cubicBezTo>
                    <a:pt x="17636" y="38713"/>
                    <a:pt x="18031" y="38762"/>
                    <a:pt x="18305" y="38803"/>
                  </a:cubicBezTo>
                  <a:cubicBezTo>
                    <a:pt x="18582" y="38845"/>
                    <a:pt x="18739" y="38868"/>
                    <a:pt x="18739" y="38868"/>
                  </a:cubicBezTo>
                  <a:cubicBezTo>
                    <a:pt x="18739" y="38868"/>
                    <a:pt x="18896" y="38893"/>
                    <a:pt x="19171" y="38935"/>
                  </a:cubicBezTo>
                  <a:cubicBezTo>
                    <a:pt x="19443" y="38993"/>
                    <a:pt x="19842" y="38993"/>
                    <a:pt x="20318" y="39020"/>
                  </a:cubicBezTo>
                  <a:cubicBezTo>
                    <a:pt x="20329" y="39023"/>
                    <a:pt x="20346" y="39023"/>
                    <a:pt x="20357" y="39023"/>
                  </a:cubicBezTo>
                  <a:cubicBezTo>
                    <a:pt x="20479" y="39408"/>
                    <a:pt x="20639" y="39881"/>
                    <a:pt x="20821" y="40361"/>
                  </a:cubicBezTo>
                  <a:cubicBezTo>
                    <a:pt x="21222" y="41469"/>
                    <a:pt x="21732" y="42505"/>
                    <a:pt x="21732" y="42505"/>
                  </a:cubicBezTo>
                  <a:cubicBezTo>
                    <a:pt x="21732" y="42505"/>
                    <a:pt x="22053" y="42489"/>
                    <a:pt x="22533" y="42466"/>
                  </a:cubicBezTo>
                  <a:cubicBezTo>
                    <a:pt x="22773" y="42452"/>
                    <a:pt x="23055" y="42436"/>
                    <a:pt x="23355" y="42420"/>
                  </a:cubicBezTo>
                  <a:cubicBezTo>
                    <a:pt x="23655" y="42390"/>
                    <a:pt x="23971" y="42334"/>
                    <a:pt x="24290" y="42290"/>
                  </a:cubicBezTo>
                  <a:cubicBezTo>
                    <a:pt x="24926" y="42187"/>
                    <a:pt x="25566" y="42113"/>
                    <a:pt x="26032" y="41972"/>
                  </a:cubicBezTo>
                  <a:cubicBezTo>
                    <a:pt x="26500" y="41852"/>
                    <a:pt x="26812" y="41773"/>
                    <a:pt x="26812" y="41773"/>
                  </a:cubicBezTo>
                  <a:cubicBezTo>
                    <a:pt x="26812" y="41773"/>
                    <a:pt x="27010" y="40626"/>
                    <a:pt x="27091" y="39475"/>
                  </a:cubicBezTo>
                  <a:cubicBezTo>
                    <a:pt x="27130" y="38960"/>
                    <a:pt x="27149" y="38459"/>
                    <a:pt x="27158" y="38053"/>
                  </a:cubicBezTo>
                  <a:cubicBezTo>
                    <a:pt x="27170" y="38049"/>
                    <a:pt x="27181" y="38044"/>
                    <a:pt x="27193" y="38039"/>
                  </a:cubicBezTo>
                  <a:cubicBezTo>
                    <a:pt x="27640" y="37873"/>
                    <a:pt x="28017" y="37744"/>
                    <a:pt x="28273" y="37636"/>
                  </a:cubicBezTo>
                  <a:cubicBezTo>
                    <a:pt x="28522" y="37516"/>
                    <a:pt x="28667" y="37446"/>
                    <a:pt x="28667" y="37446"/>
                  </a:cubicBezTo>
                  <a:cubicBezTo>
                    <a:pt x="28667" y="37446"/>
                    <a:pt x="28810" y="37377"/>
                    <a:pt x="29060" y="37257"/>
                  </a:cubicBezTo>
                  <a:cubicBezTo>
                    <a:pt x="29304" y="37126"/>
                    <a:pt x="29683" y="36989"/>
                    <a:pt x="30082" y="36724"/>
                  </a:cubicBezTo>
                  <a:cubicBezTo>
                    <a:pt x="30091" y="36719"/>
                    <a:pt x="30105" y="36712"/>
                    <a:pt x="30114" y="36706"/>
                  </a:cubicBezTo>
                  <a:cubicBezTo>
                    <a:pt x="30426" y="36959"/>
                    <a:pt x="30811" y="37269"/>
                    <a:pt x="31222" y="37569"/>
                  </a:cubicBezTo>
                  <a:cubicBezTo>
                    <a:pt x="32148" y="38261"/>
                    <a:pt x="33161" y="38891"/>
                    <a:pt x="33161" y="38891"/>
                  </a:cubicBezTo>
                  <a:cubicBezTo>
                    <a:pt x="33161" y="38891"/>
                    <a:pt x="33419" y="38699"/>
                    <a:pt x="33809" y="38413"/>
                  </a:cubicBezTo>
                  <a:cubicBezTo>
                    <a:pt x="34188" y="38116"/>
                    <a:pt x="34730" y="37765"/>
                    <a:pt x="35192" y="37315"/>
                  </a:cubicBezTo>
                  <a:cubicBezTo>
                    <a:pt x="35665" y="36879"/>
                    <a:pt x="36156" y="36463"/>
                    <a:pt x="36482" y="36108"/>
                  </a:cubicBezTo>
                  <a:lnTo>
                    <a:pt x="37024" y="35517"/>
                  </a:lnTo>
                  <a:cubicBezTo>
                    <a:pt x="37024" y="35517"/>
                    <a:pt x="36558" y="34437"/>
                    <a:pt x="36020" y="33435"/>
                  </a:cubicBezTo>
                  <a:cubicBezTo>
                    <a:pt x="35775" y="32983"/>
                    <a:pt x="35519" y="32551"/>
                    <a:pt x="35305" y="32203"/>
                  </a:cubicBezTo>
                  <a:cubicBezTo>
                    <a:pt x="35312" y="32191"/>
                    <a:pt x="35321" y="32182"/>
                    <a:pt x="35328" y="32173"/>
                  </a:cubicBezTo>
                  <a:cubicBezTo>
                    <a:pt x="35614" y="31790"/>
                    <a:pt x="35852" y="31471"/>
                    <a:pt x="36018" y="31250"/>
                  </a:cubicBezTo>
                  <a:cubicBezTo>
                    <a:pt x="36165" y="31012"/>
                    <a:pt x="36248" y="30878"/>
                    <a:pt x="36248" y="30878"/>
                  </a:cubicBezTo>
                  <a:cubicBezTo>
                    <a:pt x="36248" y="30878"/>
                    <a:pt x="36332" y="30742"/>
                    <a:pt x="36475" y="30504"/>
                  </a:cubicBezTo>
                  <a:cubicBezTo>
                    <a:pt x="36611" y="30262"/>
                    <a:pt x="36849" y="29939"/>
                    <a:pt x="37052" y="29508"/>
                  </a:cubicBezTo>
                  <a:cubicBezTo>
                    <a:pt x="37056" y="29496"/>
                    <a:pt x="37063" y="29484"/>
                    <a:pt x="37068" y="29473"/>
                  </a:cubicBezTo>
                  <a:cubicBezTo>
                    <a:pt x="37467" y="29519"/>
                    <a:pt x="37959" y="29570"/>
                    <a:pt x="38464" y="29602"/>
                  </a:cubicBezTo>
                  <a:cubicBezTo>
                    <a:pt x="39285" y="29660"/>
                    <a:pt x="40128" y="29668"/>
                    <a:pt x="40543" y="29668"/>
                  </a:cubicBezTo>
                  <a:cubicBezTo>
                    <a:pt x="40709" y="29668"/>
                    <a:pt x="40806" y="29667"/>
                    <a:pt x="40806" y="29667"/>
                  </a:cubicBezTo>
                  <a:cubicBezTo>
                    <a:pt x="40806" y="29667"/>
                    <a:pt x="40846" y="29595"/>
                    <a:pt x="40894" y="29464"/>
                  </a:cubicBezTo>
                  <a:cubicBezTo>
                    <a:pt x="40945" y="29332"/>
                    <a:pt x="41014" y="29143"/>
                    <a:pt x="41099" y="28917"/>
                  </a:cubicBezTo>
                  <a:cubicBezTo>
                    <a:pt x="41254" y="28460"/>
                    <a:pt x="41513" y="27864"/>
                    <a:pt x="41674" y="27241"/>
                  </a:cubicBezTo>
                  <a:cubicBezTo>
                    <a:pt x="41833" y="26618"/>
                    <a:pt x="41993" y="25993"/>
                    <a:pt x="42113" y="25524"/>
                  </a:cubicBezTo>
                  <a:cubicBezTo>
                    <a:pt x="42186" y="25047"/>
                    <a:pt x="42237" y="24730"/>
                    <a:pt x="42237" y="24730"/>
                  </a:cubicBezTo>
                  <a:cubicBezTo>
                    <a:pt x="42237" y="24730"/>
                    <a:pt x="41254" y="24073"/>
                    <a:pt x="40255" y="23523"/>
                  </a:cubicBezTo>
                  <a:cubicBezTo>
                    <a:pt x="39821" y="23279"/>
                    <a:pt x="39376" y="23053"/>
                    <a:pt x="39002" y="22875"/>
                  </a:cubicBezTo>
                  <a:cubicBezTo>
                    <a:pt x="39004" y="22863"/>
                    <a:pt x="39006" y="22852"/>
                    <a:pt x="39006" y="22840"/>
                  </a:cubicBezTo>
                  <a:cubicBezTo>
                    <a:pt x="39055" y="21887"/>
                    <a:pt x="39087" y="21253"/>
                    <a:pt x="39087" y="21253"/>
                  </a:cubicBezTo>
                  <a:cubicBezTo>
                    <a:pt x="39087" y="21253"/>
                    <a:pt x="39055" y="20618"/>
                    <a:pt x="39006" y="19665"/>
                  </a:cubicBezTo>
                  <a:cubicBezTo>
                    <a:pt x="39006" y="19653"/>
                    <a:pt x="39004" y="19642"/>
                    <a:pt x="39002" y="19630"/>
                  </a:cubicBezTo>
                  <a:cubicBezTo>
                    <a:pt x="39376" y="19452"/>
                    <a:pt x="39821" y="19226"/>
                    <a:pt x="40255" y="18982"/>
                  </a:cubicBezTo>
                  <a:cubicBezTo>
                    <a:pt x="41254" y="18432"/>
                    <a:pt x="42237" y="17775"/>
                    <a:pt x="42237" y="17775"/>
                  </a:cubicBezTo>
                  <a:cubicBezTo>
                    <a:pt x="42237" y="17775"/>
                    <a:pt x="42186" y="17456"/>
                    <a:pt x="42113" y="16981"/>
                  </a:cubicBezTo>
                  <a:cubicBezTo>
                    <a:pt x="41993" y="16512"/>
                    <a:pt x="41833" y="15887"/>
                    <a:pt x="41674" y="15264"/>
                  </a:cubicBezTo>
                  <a:cubicBezTo>
                    <a:pt x="41513" y="14638"/>
                    <a:pt x="41254" y="14045"/>
                    <a:pt x="41099" y="13588"/>
                  </a:cubicBezTo>
                  <a:cubicBezTo>
                    <a:pt x="41014" y="13362"/>
                    <a:pt x="40945" y="13173"/>
                    <a:pt x="40894" y="13041"/>
                  </a:cubicBezTo>
                  <a:cubicBezTo>
                    <a:pt x="40846" y="12908"/>
                    <a:pt x="40806" y="12838"/>
                    <a:pt x="40806" y="12838"/>
                  </a:cubicBezTo>
                  <a:cubicBezTo>
                    <a:pt x="40806" y="12838"/>
                    <a:pt x="40693" y="12837"/>
                    <a:pt x="40504" y="12837"/>
                  </a:cubicBezTo>
                  <a:cubicBezTo>
                    <a:pt x="40076" y="12837"/>
                    <a:pt x="39260" y="12845"/>
                    <a:pt x="38464" y="12903"/>
                  </a:cubicBezTo>
                  <a:cubicBezTo>
                    <a:pt x="37959" y="12935"/>
                    <a:pt x="37467" y="12984"/>
                    <a:pt x="37068" y="13032"/>
                  </a:cubicBezTo>
                  <a:cubicBezTo>
                    <a:pt x="37063" y="13021"/>
                    <a:pt x="37056" y="13007"/>
                    <a:pt x="37052" y="12998"/>
                  </a:cubicBezTo>
                  <a:cubicBezTo>
                    <a:pt x="36849" y="12566"/>
                    <a:pt x="36611" y="12243"/>
                    <a:pt x="36475" y="12001"/>
                  </a:cubicBezTo>
                  <a:cubicBezTo>
                    <a:pt x="36332" y="11763"/>
                    <a:pt x="36248" y="11627"/>
                    <a:pt x="36248" y="11627"/>
                  </a:cubicBezTo>
                  <a:cubicBezTo>
                    <a:pt x="36248" y="11627"/>
                    <a:pt x="36165" y="11491"/>
                    <a:pt x="36018" y="11255"/>
                  </a:cubicBezTo>
                  <a:cubicBezTo>
                    <a:pt x="35852" y="11031"/>
                    <a:pt x="35614" y="10713"/>
                    <a:pt x="35328" y="10332"/>
                  </a:cubicBezTo>
                  <a:cubicBezTo>
                    <a:pt x="35321" y="10323"/>
                    <a:pt x="35312" y="10311"/>
                    <a:pt x="35305" y="10302"/>
                  </a:cubicBezTo>
                  <a:cubicBezTo>
                    <a:pt x="35519" y="9954"/>
                    <a:pt x="35775" y="9522"/>
                    <a:pt x="36020" y="9070"/>
                  </a:cubicBezTo>
                  <a:cubicBezTo>
                    <a:pt x="36558" y="8068"/>
                    <a:pt x="37024" y="6988"/>
                    <a:pt x="37024" y="6988"/>
                  </a:cubicBezTo>
                  <a:lnTo>
                    <a:pt x="36482" y="6395"/>
                  </a:lnTo>
                  <a:cubicBezTo>
                    <a:pt x="36156" y="6040"/>
                    <a:pt x="35665" y="5624"/>
                    <a:pt x="35192" y="5188"/>
                  </a:cubicBezTo>
                  <a:cubicBezTo>
                    <a:pt x="34730" y="4740"/>
                    <a:pt x="34185" y="4387"/>
                    <a:pt x="33809" y="4089"/>
                  </a:cubicBezTo>
                  <a:cubicBezTo>
                    <a:pt x="33419" y="3803"/>
                    <a:pt x="33161" y="3612"/>
                    <a:pt x="33161" y="3612"/>
                  </a:cubicBezTo>
                  <a:cubicBezTo>
                    <a:pt x="33161" y="3612"/>
                    <a:pt x="32148" y="4244"/>
                    <a:pt x="31222" y="4934"/>
                  </a:cubicBezTo>
                  <a:cubicBezTo>
                    <a:pt x="30814" y="5236"/>
                    <a:pt x="30426" y="5543"/>
                    <a:pt x="30114" y="5800"/>
                  </a:cubicBezTo>
                  <a:cubicBezTo>
                    <a:pt x="30105" y="5793"/>
                    <a:pt x="30091" y="5786"/>
                    <a:pt x="30082" y="5779"/>
                  </a:cubicBezTo>
                  <a:cubicBezTo>
                    <a:pt x="29683" y="5516"/>
                    <a:pt x="29304" y="5377"/>
                    <a:pt x="29060" y="5248"/>
                  </a:cubicBezTo>
                  <a:cubicBezTo>
                    <a:pt x="28810" y="5126"/>
                    <a:pt x="28667" y="5056"/>
                    <a:pt x="28667" y="5056"/>
                  </a:cubicBezTo>
                  <a:cubicBezTo>
                    <a:pt x="28667" y="5056"/>
                    <a:pt x="28522" y="4990"/>
                    <a:pt x="28273" y="4867"/>
                  </a:cubicBezTo>
                  <a:cubicBezTo>
                    <a:pt x="28017" y="4759"/>
                    <a:pt x="27640" y="4632"/>
                    <a:pt x="27193" y="4463"/>
                  </a:cubicBezTo>
                  <a:cubicBezTo>
                    <a:pt x="27181" y="4461"/>
                    <a:pt x="27170" y="4456"/>
                    <a:pt x="27158" y="4452"/>
                  </a:cubicBezTo>
                  <a:cubicBezTo>
                    <a:pt x="27149" y="4043"/>
                    <a:pt x="27130" y="3543"/>
                    <a:pt x="27091" y="3030"/>
                  </a:cubicBezTo>
                  <a:cubicBezTo>
                    <a:pt x="27010" y="1876"/>
                    <a:pt x="26812" y="732"/>
                    <a:pt x="26812" y="732"/>
                  </a:cubicBezTo>
                  <a:cubicBezTo>
                    <a:pt x="26812" y="732"/>
                    <a:pt x="26500" y="651"/>
                    <a:pt x="26032" y="531"/>
                  </a:cubicBezTo>
                  <a:cubicBezTo>
                    <a:pt x="25566" y="392"/>
                    <a:pt x="24926" y="316"/>
                    <a:pt x="24290" y="215"/>
                  </a:cubicBezTo>
                  <a:cubicBezTo>
                    <a:pt x="23971" y="169"/>
                    <a:pt x="23655" y="113"/>
                    <a:pt x="23355" y="85"/>
                  </a:cubicBezTo>
                  <a:cubicBezTo>
                    <a:pt x="23055" y="67"/>
                    <a:pt x="22773" y="53"/>
                    <a:pt x="22533" y="39"/>
                  </a:cubicBezTo>
                  <a:cubicBezTo>
                    <a:pt x="22053" y="16"/>
                    <a:pt x="21732" y="0"/>
                    <a:pt x="2173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 name="Google Shape;175;p22"/>
          <p:cNvSpPr/>
          <p:nvPr/>
        </p:nvSpPr>
        <p:spPr>
          <a:xfrm>
            <a:off x="7134938" y="1563138"/>
            <a:ext cx="105900" cy="1059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2"/>
          <p:cNvSpPr/>
          <p:nvPr/>
        </p:nvSpPr>
        <p:spPr>
          <a:xfrm>
            <a:off x="869538" y="4168588"/>
            <a:ext cx="105900" cy="1059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664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200"/>
              <a:buFont typeface="Albert Sans"/>
              <a:buNone/>
              <a:defRPr b="1" sz="3200">
                <a:solidFill>
                  <a:schemeClr val="dk1"/>
                </a:solidFill>
                <a:latin typeface="Albert Sans"/>
                <a:ea typeface="Albert Sans"/>
                <a:cs typeface="Albert Sans"/>
                <a:sym typeface="Albert Sans"/>
              </a:defRPr>
            </a:lvl9pPr>
          </a:lstStyle>
          <a:p/>
        </p:txBody>
      </p:sp>
      <p:sp>
        <p:nvSpPr>
          <p:cNvPr id="7" name="Google Shape;7;p1"/>
          <p:cNvSpPr txBox="1"/>
          <p:nvPr>
            <p:ph idx="1" type="body"/>
          </p:nvPr>
        </p:nvSpPr>
        <p:spPr>
          <a:xfrm>
            <a:off x="715100" y="1199200"/>
            <a:ext cx="7713900" cy="34092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transition spd="med">
    <p:push/>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hyperlink" Target="https://www.ibm.com/think/topics/pii" TargetMode="External"/><Relationship Id="rId4" Type="http://schemas.openxmlformats.org/officeDocument/2006/relationships/hyperlink" Target="https://www.kiteworks.com/company/press-releases/these-social-media-platforms-harvest-the-most-personal-data/" TargetMode="External"/><Relationship Id="rId5" Type="http://schemas.openxmlformats.org/officeDocument/2006/relationships/hyperlink" Target="https://doi.org/10.1509/jppm.15.020" TargetMode="External"/><Relationship Id="rId6" Type="http://schemas.openxmlformats.org/officeDocument/2006/relationships/hyperlink" Target="https://huggingface.co/Falconsai/text_summarization" TargetMode="External"/><Relationship Id="rId7" Type="http://schemas.openxmlformats.org/officeDocument/2006/relationships/hyperlink" Target="https://tagembed.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3"/>
          <p:cNvSpPr/>
          <p:nvPr/>
        </p:nvSpPr>
        <p:spPr>
          <a:xfrm>
            <a:off x="4942875" y="3780724"/>
            <a:ext cx="315000" cy="3150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3"/>
          <p:cNvSpPr/>
          <p:nvPr/>
        </p:nvSpPr>
        <p:spPr>
          <a:xfrm>
            <a:off x="7900100" y="2301100"/>
            <a:ext cx="283500" cy="2835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3"/>
          <p:cNvSpPr/>
          <p:nvPr/>
        </p:nvSpPr>
        <p:spPr>
          <a:xfrm>
            <a:off x="7851050" y="2487800"/>
            <a:ext cx="151500" cy="151500"/>
          </a:xfrm>
          <a:prstGeom prst="ellipse">
            <a:avLst/>
          </a:prstGeom>
          <a:gradFill>
            <a:gsLst>
              <a:gs pos="0">
                <a:schemeClr val="dk2">
                  <a:alpha val="10000"/>
                </a:schemeClr>
              </a:gs>
              <a:gs pos="100000">
                <a:schemeClr val="lt1">
                  <a:alpha val="10000"/>
                </a:scheme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3"/>
          <p:cNvSpPr/>
          <p:nvPr/>
        </p:nvSpPr>
        <p:spPr>
          <a:xfrm>
            <a:off x="6029650" y="3534425"/>
            <a:ext cx="105900" cy="105900"/>
          </a:xfrm>
          <a:prstGeom prst="ellipse">
            <a:avLst/>
          </a:prstGeom>
          <a:gradFill>
            <a:gsLst>
              <a:gs pos="0">
                <a:schemeClr val="dk2">
                  <a:alpha val="10000"/>
                </a:schemeClr>
              </a:gs>
              <a:gs pos="100000">
                <a:schemeClr val="lt1">
                  <a:alpha val="10000"/>
                </a:scheme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3"/>
          <p:cNvSpPr/>
          <p:nvPr/>
        </p:nvSpPr>
        <p:spPr>
          <a:xfrm>
            <a:off x="7655900" y="1123275"/>
            <a:ext cx="151500" cy="151500"/>
          </a:xfrm>
          <a:prstGeom prst="ellipse">
            <a:avLst/>
          </a:prstGeom>
          <a:solidFill>
            <a:srgbClr val="0388E5">
              <a:alpha val="1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3"/>
          <p:cNvSpPr txBox="1"/>
          <p:nvPr/>
        </p:nvSpPr>
        <p:spPr>
          <a:xfrm>
            <a:off x="1237350" y="1360675"/>
            <a:ext cx="6669300" cy="1944600"/>
          </a:xfrm>
          <a:prstGeom prst="rect">
            <a:avLst/>
          </a:prstGeom>
          <a:noFill/>
          <a:ln>
            <a:noFill/>
          </a:ln>
        </p:spPr>
        <p:txBody>
          <a:bodyPr anchorCtr="0" anchor="b" bIns="91425" lIns="91425" spcFirstLastPara="1" rIns="91425" wrap="square" tIns="91425">
            <a:noAutofit/>
          </a:bodyPr>
          <a:lstStyle/>
          <a:p>
            <a:pPr indent="0" lvl="0" marL="0" rtl="0" algn="ctr">
              <a:lnSpc>
                <a:spcPct val="90000"/>
              </a:lnSpc>
              <a:spcBef>
                <a:spcPts val="0"/>
              </a:spcBef>
              <a:spcAft>
                <a:spcPts val="0"/>
              </a:spcAft>
              <a:buNone/>
            </a:pPr>
            <a:r>
              <a:rPr b="1" lang="en" sz="3300">
                <a:solidFill>
                  <a:srgbClr val="012169"/>
                </a:solidFill>
                <a:latin typeface="Albert Sans"/>
                <a:ea typeface="Albert Sans"/>
                <a:cs typeface="Albert Sans"/>
                <a:sym typeface="Albert Sans"/>
              </a:rPr>
              <a:t>Summarizing &amp; Identifying PII Data from Downloaded Social Media Data</a:t>
            </a:r>
            <a:endParaRPr b="1" sz="3300">
              <a:solidFill>
                <a:srgbClr val="012169"/>
              </a:solidFill>
              <a:latin typeface="Albert Sans"/>
              <a:ea typeface="Albert Sans"/>
              <a:cs typeface="Albert Sans"/>
              <a:sym typeface="Albert Sans"/>
            </a:endParaRPr>
          </a:p>
          <a:p>
            <a:pPr indent="0" lvl="0" marL="0" rtl="0" algn="l">
              <a:lnSpc>
                <a:spcPct val="90000"/>
              </a:lnSpc>
              <a:spcBef>
                <a:spcPts val="0"/>
              </a:spcBef>
              <a:spcAft>
                <a:spcPts val="0"/>
              </a:spcAft>
              <a:buNone/>
            </a:pPr>
            <a:r>
              <a:t/>
            </a:r>
            <a:endParaRPr b="1" sz="1300">
              <a:solidFill>
                <a:srgbClr val="012169"/>
              </a:solidFill>
              <a:latin typeface="Albert Sans"/>
              <a:ea typeface="Albert Sans"/>
              <a:cs typeface="Albert Sans"/>
              <a:sym typeface="Albert Sans"/>
            </a:endParaRPr>
          </a:p>
          <a:p>
            <a:pPr indent="0" lvl="0" marL="0" rtl="0" algn="l">
              <a:lnSpc>
                <a:spcPct val="90000"/>
              </a:lnSpc>
              <a:spcBef>
                <a:spcPts val="0"/>
              </a:spcBef>
              <a:spcAft>
                <a:spcPts val="0"/>
              </a:spcAft>
              <a:buNone/>
            </a:pPr>
            <a:r>
              <a:t/>
            </a:r>
            <a:endParaRPr b="1" sz="1300">
              <a:solidFill>
                <a:srgbClr val="012169"/>
              </a:solidFill>
              <a:latin typeface="Albert Sans"/>
              <a:ea typeface="Albert Sans"/>
              <a:cs typeface="Albert Sans"/>
              <a:sym typeface="Albert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nvSpPr>
        <p:spPr>
          <a:xfrm>
            <a:off x="706150" y="556025"/>
            <a:ext cx="24255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12169"/>
                </a:solidFill>
                <a:latin typeface="Albert Sans"/>
                <a:ea typeface="Albert Sans"/>
                <a:cs typeface="Albert Sans"/>
                <a:sym typeface="Albert Sans"/>
              </a:rPr>
              <a:t>BLUF</a:t>
            </a:r>
            <a:endParaRPr b="1" sz="2800">
              <a:solidFill>
                <a:srgbClr val="012169"/>
              </a:solidFill>
              <a:latin typeface="Albert Sans"/>
              <a:ea typeface="Albert Sans"/>
              <a:cs typeface="Albert Sans"/>
              <a:sym typeface="Albert Sans"/>
            </a:endParaRPr>
          </a:p>
        </p:txBody>
      </p:sp>
      <p:sp>
        <p:nvSpPr>
          <p:cNvPr id="192" name="Google Shape;192;p24"/>
          <p:cNvSpPr txBox="1"/>
          <p:nvPr/>
        </p:nvSpPr>
        <p:spPr>
          <a:xfrm>
            <a:off x="695900" y="1292375"/>
            <a:ext cx="7902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Albert Sans"/>
                <a:ea typeface="Albert Sans"/>
                <a:cs typeface="Albert Sans"/>
                <a:sym typeface="Albert Sans"/>
              </a:rPr>
              <a:t>As we expand our use of social media apps; the risk of our personally identifiable information (PII) becoming exposed increases with each new app that we feed our data into with or without our knowledge. While we may view these social media apps as harmless and fun entertainment to connect with others, there are dangers to putting all of our information online.</a:t>
            </a:r>
            <a:endParaRPr sz="1800">
              <a:solidFill>
                <a:schemeClr val="dk1"/>
              </a:solidFill>
              <a:latin typeface="Albert Sans"/>
              <a:ea typeface="Albert Sans"/>
              <a:cs typeface="Albert Sans"/>
              <a:sym typeface="Albert Sans"/>
            </a:endParaRPr>
          </a:p>
          <a:p>
            <a:pPr indent="0" lvl="0" marL="228600" rtl="0" algn="l">
              <a:spcBef>
                <a:spcPts val="0"/>
              </a:spcBef>
              <a:spcAft>
                <a:spcPts val="0"/>
              </a:spcAft>
              <a:buNone/>
            </a:pPr>
            <a:r>
              <a:t/>
            </a:r>
            <a:endParaRPr sz="1800">
              <a:solidFill>
                <a:schemeClr val="dk1"/>
              </a:solidFill>
              <a:latin typeface="Albert Sans"/>
              <a:ea typeface="Albert Sans"/>
              <a:cs typeface="Albert Sans"/>
              <a:sym typeface="Albert Sans"/>
            </a:endParaRPr>
          </a:p>
        </p:txBody>
      </p:sp>
      <p:pic>
        <p:nvPicPr>
          <p:cNvPr id="193" name="Google Shape;193;p24"/>
          <p:cNvPicPr preferRelativeResize="0"/>
          <p:nvPr/>
        </p:nvPicPr>
        <p:blipFill>
          <a:blip r:embed="rId3">
            <a:alphaModFix/>
          </a:blip>
          <a:stretch>
            <a:fillRect/>
          </a:stretch>
        </p:blipFill>
        <p:spPr>
          <a:xfrm>
            <a:off x="3463813" y="3223473"/>
            <a:ext cx="2366175" cy="1384050"/>
          </a:xfrm>
          <a:prstGeom prst="rect">
            <a:avLst/>
          </a:prstGeom>
          <a:noFill/>
          <a:ln>
            <a:noFill/>
          </a:ln>
        </p:spPr>
      </p:pic>
      <p:sp>
        <p:nvSpPr>
          <p:cNvPr id="194" name="Google Shape;194;p24"/>
          <p:cNvSpPr txBox="1"/>
          <p:nvPr/>
        </p:nvSpPr>
        <p:spPr>
          <a:xfrm>
            <a:off x="1744450" y="4525425"/>
            <a:ext cx="6647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Albert Sans"/>
                <a:ea typeface="Albert Sans"/>
                <a:cs typeface="Albert Sans"/>
                <a:sym typeface="Albert Sans"/>
              </a:rPr>
              <a:t>“Tagembed: Free Social Media Aggregator For Website,” </a:t>
            </a:r>
            <a:r>
              <a:rPr i="1" lang="en" sz="700">
                <a:solidFill>
                  <a:schemeClr val="dk1"/>
                </a:solidFill>
                <a:latin typeface="Albert Sans"/>
                <a:ea typeface="Albert Sans"/>
                <a:cs typeface="Albert Sans"/>
                <a:sym typeface="Albert Sans"/>
              </a:rPr>
              <a:t>Best Social Media Aggregator Tool For Websites | Tagembed</a:t>
            </a:r>
            <a:r>
              <a:rPr lang="en" sz="700">
                <a:solidFill>
                  <a:schemeClr val="dk1"/>
                </a:solidFill>
                <a:latin typeface="Albert Sans"/>
                <a:ea typeface="Albert Sans"/>
                <a:cs typeface="Albert Sans"/>
                <a:sym typeface="Albert Sans"/>
              </a:rPr>
              <a:t>, May 30, 2024. https://tagembed.com/</a:t>
            </a:r>
            <a:endParaRPr sz="800">
              <a:solidFill>
                <a:schemeClr val="dk1"/>
              </a:solidFill>
              <a:latin typeface="Albert Sans"/>
              <a:ea typeface="Albert Sans"/>
              <a:cs typeface="Albert Sans"/>
              <a:sym typeface="Alber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5"/>
          <p:cNvSpPr txBox="1"/>
          <p:nvPr/>
        </p:nvSpPr>
        <p:spPr>
          <a:xfrm>
            <a:off x="695900" y="627750"/>
            <a:ext cx="66474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12169"/>
                </a:solidFill>
                <a:latin typeface="Albert Sans"/>
                <a:ea typeface="Albert Sans"/>
                <a:cs typeface="Albert Sans"/>
                <a:sym typeface="Albert Sans"/>
              </a:rPr>
              <a:t>What is PII?</a:t>
            </a:r>
            <a:endParaRPr b="1" sz="2800">
              <a:solidFill>
                <a:srgbClr val="012169"/>
              </a:solidFill>
              <a:latin typeface="Albert Sans"/>
              <a:ea typeface="Albert Sans"/>
              <a:cs typeface="Albert Sans"/>
              <a:sym typeface="Albert Sans"/>
            </a:endParaRPr>
          </a:p>
        </p:txBody>
      </p:sp>
      <p:sp>
        <p:nvSpPr>
          <p:cNvPr id="200" name="Google Shape;200;p25"/>
          <p:cNvSpPr txBox="1"/>
          <p:nvPr/>
        </p:nvSpPr>
        <p:spPr>
          <a:xfrm>
            <a:off x="695900" y="1291950"/>
            <a:ext cx="7902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Albert Sans"/>
                <a:ea typeface="Albert Sans"/>
                <a:cs typeface="Albert Sans"/>
                <a:sym typeface="Albert Sans"/>
              </a:rPr>
              <a:t>Data that can identify specific individuals such as full names, phone number, email address, social security number, home address, etc. and if this information was put online or collected by attackers, then this data could be used to steal a person’s identity or commit fraud [1].</a:t>
            </a:r>
            <a:endParaRPr sz="1800">
              <a:solidFill>
                <a:schemeClr val="dk1"/>
              </a:solidFill>
              <a:latin typeface="Albert Sans"/>
              <a:ea typeface="Albert Sans"/>
              <a:cs typeface="Albert Sans"/>
              <a:sym typeface="Albert Sans"/>
            </a:endParaRPr>
          </a:p>
          <a:p>
            <a:pPr indent="0" lvl="0" marL="228600" rtl="0" algn="l">
              <a:spcBef>
                <a:spcPts val="0"/>
              </a:spcBef>
              <a:spcAft>
                <a:spcPts val="0"/>
              </a:spcAft>
              <a:buNone/>
            </a:pPr>
            <a:r>
              <a:t/>
            </a:r>
            <a:endParaRPr sz="1800">
              <a:solidFill>
                <a:schemeClr val="dk1"/>
              </a:solidFill>
              <a:latin typeface="Albert Sans"/>
              <a:ea typeface="Albert Sans"/>
              <a:cs typeface="Albert Sans"/>
              <a:sym typeface="Albert Sans"/>
            </a:endParaRPr>
          </a:p>
          <a:p>
            <a:pPr indent="0" lvl="0" marL="228600" rtl="0" algn="l">
              <a:spcBef>
                <a:spcPts val="0"/>
              </a:spcBef>
              <a:spcAft>
                <a:spcPts val="0"/>
              </a:spcAft>
              <a:buNone/>
            </a:pPr>
            <a:r>
              <a:t/>
            </a:r>
            <a:endParaRPr sz="1800">
              <a:solidFill>
                <a:schemeClr val="dk1"/>
              </a:solidFill>
              <a:latin typeface="Albert Sans"/>
              <a:ea typeface="Albert Sans"/>
              <a:cs typeface="Albert Sans"/>
              <a:sym typeface="Albert Sans"/>
            </a:endParaRPr>
          </a:p>
        </p:txBody>
      </p:sp>
      <p:pic>
        <p:nvPicPr>
          <p:cNvPr id="201" name="Google Shape;201;p25"/>
          <p:cNvPicPr preferRelativeResize="0"/>
          <p:nvPr/>
        </p:nvPicPr>
        <p:blipFill>
          <a:blip r:embed="rId3">
            <a:alphaModFix/>
          </a:blip>
          <a:stretch>
            <a:fillRect/>
          </a:stretch>
        </p:blipFill>
        <p:spPr>
          <a:xfrm>
            <a:off x="2919638" y="2660875"/>
            <a:ext cx="3304725" cy="1982826"/>
          </a:xfrm>
          <a:prstGeom prst="rect">
            <a:avLst/>
          </a:prstGeom>
          <a:noFill/>
          <a:ln>
            <a:noFill/>
          </a:ln>
        </p:spPr>
      </p:pic>
      <p:sp>
        <p:nvSpPr>
          <p:cNvPr id="202" name="Google Shape;202;p25"/>
          <p:cNvSpPr txBox="1"/>
          <p:nvPr/>
        </p:nvSpPr>
        <p:spPr>
          <a:xfrm>
            <a:off x="1042975" y="4495200"/>
            <a:ext cx="7504800" cy="292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700">
                <a:solidFill>
                  <a:schemeClr val="dk1"/>
                </a:solidFill>
                <a:latin typeface="Albert Sans"/>
                <a:ea typeface="Albert Sans"/>
                <a:cs typeface="Albert Sans"/>
                <a:sym typeface="Albert Sans"/>
              </a:rPr>
              <a:t>DPM, “What is Personally Identifiable Information (PII)?,” </a:t>
            </a:r>
            <a:r>
              <a:rPr i="1" lang="en" sz="700">
                <a:solidFill>
                  <a:schemeClr val="dk1"/>
                </a:solidFill>
                <a:latin typeface="Albert Sans"/>
                <a:ea typeface="Albert Sans"/>
                <a:cs typeface="Albert Sans"/>
                <a:sym typeface="Albert Sans"/>
              </a:rPr>
              <a:t>Data Privacy Manager</a:t>
            </a:r>
            <a:r>
              <a:rPr lang="en" sz="700">
                <a:solidFill>
                  <a:schemeClr val="dk1"/>
                </a:solidFill>
                <a:latin typeface="Albert Sans"/>
                <a:ea typeface="Albert Sans"/>
                <a:cs typeface="Albert Sans"/>
                <a:sym typeface="Albert Sans"/>
              </a:rPr>
              <a:t>, Feb. 23, 2021. https://dataprivacymanager.net/what-is-personally-identifiable-information-pii/</a:t>
            </a:r>
            <a:endParaRPr sz="800">
              <a:solidFill>
                <a:schemeClr val="dk1"/>
              </a:solidFill>
              <a:latin typeface="Albert Sans"/>
              <a:ea typeface="Albert Sans"/>
              <a:cs typeface="Albert Sans"/>
              <a:sym typeface="Albert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nvSpPr>
        <p:spPr>
          <a:xfrm>
            <a:off x="706150" y="556025"/>
            <a:ext cx="24255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12169"/>
                </a:solidFill>
                <a:latin typeface="Albert Sans"/>
                <a:ea typeface="Albert Sans"/>
                <a:cs typeface="Albert Sans"/>
                <a:sym typeface="Albert Sans"/>
              </a:rPr>
              <a:t>Importance</a:t>
            </a:r>
            <a:endParaRPr b="1" sz="2800">
              <a:solidFill>
                <a:srgbClr val="012169"/>
              </a:solidFill>
              <a:latin typeface="Albert Sans"/>
              <a:ea typeface="Albert Sans"/>
              <a:cs typeface="Albert Sans"/>
              <a:sym typeface="Albert Sans"/>
            </a:endParaRPr>
          </a:p>
        </p:txBody>
      </p:sp>
      <p:sp>
        <p:nvSpPr>
          <p:cNvPr id="208" name="Google Shape;208;p26"/>
          <p:cNvSpPr txBox="1"/>
          <p:nvPr/>
        </p:nvSpPr>
        <p:spPr>
          <a:xfrm>
            <a:off x="695900" y="1291950"/>
            <a:ext cx="7902000" cy="1493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700">
                <a:solidFill>
                  <a:schemeClr val="dk1"/>
                </a:solidFill>
                <a:latin typeface="Albert Sans"/>
                <a:ea typeface="Albert Sans"/>
                <a:cs typeface="Albert Sans"/>
                <a:sym typeface="Albert Sans"/>
              </a:rPr>
              <a:t>Every day we hear about new data breaches occurring and exposing millions of people’s data records online and with no stop in sight, it is critical that </a:t>
            </a:r>
            <a:r>
              <a:rPr lang="en" sz="1700">
                <a:solidFill>
                  <a:schemeClr val="dk1"/>
                </a:solidFill>
                <a:latin typeface="Albert Sans"/>
                <a:ea typeface="Albert Sans"/>
                <a:cs typeface="Albert Sans"/>
                <a:sym typeface="Albert Sans"/>
              </a:rPr>
              <a:t>users understand exactly how much PII data they are willingly sharing to social media apps and perhaps take a more firm security posture on sharing sensitive information online in order to take back their privacy rights. </a:t>
            </a:r>
            <a:endParaRPr sz="1800">
              <a:solidFill>
                <a:schemeClr val="dk1"/>
              </a:solidFill>
              <a:latin typeface="Albert Sans"/>
              <a:ea typeface="Albert Sans"/>
              <a:cs typeface="Albert Sans"/>
              <a:sym typeface="Albert Sans"/>
            </a:endParaRPr>
          </a:p>
        </p:txBody>
      </p:sp>
      <p:sp>
        <p:nvSpPr>
          <p:cNvPr id="209" name="Google Shape;209;p26"/>
          <p:cNvSpPr txBox="1"/>
          <p:nvPr/>
        </p:nvSpPr>
        <p:spPr>
          <a:xfrm>
            <a:off x="706150" y="2919500"/>
            <a:ext cx="78918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Albert Sans"/>
                <a:ea typeface="Albert Sans"/>
                <a:cs typeface="Albert Sans"/>
                <a:sym typeface="Albert Sans"/>
              </a:rPr>
              <a:t>Unless there are regulations, consumer pressure, and hefty fines in place; social media companies will not protect their user’s data so it’s up to us to protect ourselves and our information [2]. We as consumers can take action by controlling the sharing and release of our personal data, however social media apps need to rise to the occasion with us and improve their transparency methods and build back trust with users [3].</a:t>
            </a:r>
            <a:endParaRPr sz="1200">
              <a:solidFill>
                <a:schemeClr val="dk1"/>
              </a:solidFill>
              <a:latin typeface="Albert Sans"/>
              <a:ea typeface="Albert Sans"/>
              <a:cs typeface="Albert Sans"/>
              <a:sym typeface="Alber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7"/>
          <p:cNvSpPr txBox="1"/>
          <p:nvPr/>
        </p:nvSpPr>
        <p:spPr>
          <a:xfrm>
            <a:off x="706150" y="556025"/>
            <a:ext cx="21075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12169"/>
                </a:solidFill>
                <a:latin typeface="Albert Sans"/>
                <a:ea typeface="Albert Sans"/>
                <a:cs typeface="Albert Sans"/>
                <a:sym typeface="Albert Sans"/>
              </a:rPr>
              <a:t>My Project </a:t>
            </a:r>
            <a:endParaRPr b="1" sz="2800">
              <a:solidFill>
                <a:srgbClr val="012169"/>
              </a:solidFill>
              <a:latin typeface="Albert Sans"/>
              <a:ea typeface="Albert Sans"/>
              <a:cs typeface="Albert Sans"/>
              <a:sym typeface="Albert Sans"/>
            </a:endParaRPr>
          </a:p>
        </p:txBody>
      </p:sp>
      <p:sp>
        <p:nvSpPr>
          <p:cNvPr id="215" name="Google Shape;215;p27"/>
          <p:cNvSpPr txBox="1"/>
          <p:nvPr/>
        </p:nvSpPr>
        <p:spPr>
          <a:xfrm>
            <a:off x="695900" y="1291950"/>
            <a:ext cx="7902000" cy="1847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800">
                <a:solidFill>
                  <a:schemeClr val="dk1"/>
                </a:solidFill>
                <a:latin typeface="Albert Sans"/>
                <a:ea typeface="Albert Sans"/>
                <a:cs typeface="Albert Sans"/>
                <a:sym typeface="Albert Sans"/>
              </a:rPr>
              <a:t>The focus of my capstone project has been to utilize an AI model to summarize data from users downloaded information from social media platforms to help users be more informed of what information they are inputting into their online profiles and for future works offer security recommendations to users in making better decisions about their data sharing.</a:t>
            </a:r>
            <a:endParaRPr sz="1800">
              <a:solidFill>
                <a:schemeClr val="dk1"/>
              </a:solidFill>
              <a:latin typeface="Albert Sans"/>
              <a:ea typeface="Albert Sans"/>
              <a:cs typeface="Albert Sans"/>
              <a:sym typeface="Alber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nvSpPr>
        <p:spPr>
          <a:xfrm>
            <a:off x="706150" y="1235550"/>
            <a:ext cx="7960200" cy="245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latin typeface="Albert Sans"/>
                <a:ea typeface="Albert Sans"/>
                <a:cs typeface="Albert Sans"/>
                <a:sym typeface="Albert Sans"/>
              </a:rPr>
              <a:t>My steps for this project were:</a:t>
            </a:r>
            <a:endParaRPr sz="1800">
              <a:solidFill>
                <a:schemeClr val="dk1"/>
              </a:solidFill>
              <a:latin typeface="Albert Sans"/>
              <a:ea typeface="Albert Sans"/>
              <a:cs typeface="Albert Sans"/>
              <a:sym typeface="Albert Sans"/>
            </a:endParaRPr>
          </a:p>
          <a:p>
            <a:pPr indent="-342900" lvl="0" marL="457200" rtl="0" algn="l">
              <a:lnSpc>
                <a:spcPct val="115000"/>
              </a:lnSpc>
              <a:spcBef>
                <a:spcPts val="0"/>
              </a:spcBef>
              <a:spcAft>
                <a:spcPts val="0"/>
              </a:spcAft>
              <a:buClr>
                <a:schemeClr val="dk1"/>
              </a:buClr>
              <a:buSzPts val="1800"/>
              <a:buFont typeface="Albert Sans"/>
              <a:buAutoNum type="arabicPeriod"/>
            </a:pPr>
            <a:r>
              <a:rPr lang="en" sz="1800">
                <a:solidFill>
                  <a:schemeClr val="dk1"/>
                </a:solidFill>
                <a:latin typeface="Albert Sans"/>
                <a:ea typeface="Albert Sans"/>
                <a:cs typeface="Albert Sans"/>
                <a:sym typeface="Albert Sans"/>
              </a:rPr>
              <a:t>Find a </a:t>
            </a:r>
            <a:r>
              <a:rPr lang="en" sz="1800">
                <a:solidFill>
                  <a:schemeClr val="dk1"/>
                </a:solidFill>
                <a:latin typeface="Albert Sans"/>
                <a:ea typeface="Albert Sans"/>
                <a:cs typeface="Albert Sans"/>
                <a:sym typeface="Albert Sans"/>
              </a:rPr>
              <a:t>text summarization model from the Hugging Face website</a:t>
            </a:r>
            <a:endParaRPr sz="1800">
              <a:solidFill>
                <a:schemeClr val="dk1"/>
              </a:solidFill>
              <a:latin typeface="Albert Sans"/>
              <a:ea typeface="Albert Sans"/>
              <a:cs typeface="Albert Sans"/>
              <a:sym typeface="Albert Sans"/>
            </a:endParaRPr>
          </a:p>
          <a:p>
            <a:pPr indent="-342900" lvl="0" marL="457200" rtl="0" algn="l">
              <a:lnSpc>
                <a:spcPct val="115000"/>
              </a:lnSpc>
              <a:spcBef>
                <a:spcPts val="0"/>
              </a:spcBef>
              <a:spcAft>
                <a:spcPts val="0"/>
              </a:spcAft>
              <a:buClr>
                <a:schemeClr val="dk1"/>
              </a:buClr>
              <a:buSzPts val="1800"/>
              <a:buFont typeface="Albert Sans"/>
              <a:buAutoNum type="arabicPeriod"/>
            </a:pPr>
            <a:r>
              <a:rPr lang="en" sz="1800">
                <a:solidFill>
                  <a:schemeClr val="dk1"/>
                </a:solidFill>
                <a:latin typeface="Albert Sans"/>
                <a:ea typeface="Albert Sans"/>
                <a:cs typeface="Albert Sans"/>
                <a:sym typeface="Albert Sans"/>
              </a:rPr>
              <a:t>Download the necessary code and set it up in Visual Studio Code</a:t>
            </a:r>
            <a:endParaRPr sz="1800">
              <a:solidFill>
                <a:schemeClr val="dk1"/>
              </a:solidFill>
              <a:latin typeface="Albert Sans"/>
              <a:ea typeface="Albert Sans"/>
              <a:cs typeface="Albert Sans"/>
              <a:sym typeface="Albert Sans"/>
            </a:endParaRPr>
          </a:p>
          <a:p>
            <a:pPr indent="-342900" lvl="0" marL="457200" rtl="0" algn="l">
              <a:lnSpc>
                <a:spcPct val="115000"/>
              </a:lnSpc>
              <a:spcBef>
                <a:spcPts val="0"/>
              </a:spcBef>
              <a:spcAft>
                <a:spcPts val="0"/>
              </a:spcAft>
              <a:buClr>
                <a:schemeClr val="dk1"/>
              </a:buClr>
              <a:buSzPts val="1800"/>
              <a:buFont typeface="Albert Sans"/>
              <a:buAutoNum type="arabicPeriod"/>
            </a:pPr>
            <a:r>
              <a:rPr lang="en" sz="1800">
                <a:solidFill>
                  <a:schemeClr val="dk1"/>
                </a:solidFill>
                <a:latin typeface="Albert Sans"/>
                <a:ea typeface="Albert Sans"/>
                <a:cs typeface="Albert Sans"/>
                <a:sym typeface="Albert Sans"/>
              </a:rPr>
              <a:t>Submit download requests of my account data from various social media apps</a:t>
            </a:r>
            <a:endParaRPr sz="1800">
              <a:solidFill>
                <a:schemeClr val="dk1"/>
              </a:solidFill>
              <a:latin typeface="Albert Sans"/>
              <a:ea typeface="Albert Sans"/>
              <a:cs typeface="Albert Sans"/>
              <a:sym typeface="Albert Sans"/>
            </a:endParaRPr>
          </a:p>
          <a:p>
            <a:pPr indent="-342900" lvl="0" marL="457200" rtl="0" algn="l">
              <a:lnSpc>
                <a:spcPct val="115000"/>
              </a:lnSpc>
              <a:spcBef>
                <a:spcPts val="0"/>
              </a:spcBef>
              <a:spcAft>
                <a:spcPts val="0"/>
              </a:spcAft>
              <a:buClr>
                <a:schemeClr val="dk1"/>
              </a:buClr>
              <a:buSzPts val="1800"/>
              <a:buFont typeface="Albert Sans"/>
              <a:buAutoNum type="arabicPeriod"/>
            </a:pPr>
            <a:r>
              <a:rPr lang="en" sz="1800">
                <a:solidFill>
                  <a:schemeClr val="dk1"/>
                </a:solidFill>
                <a:latin typeface="Albert Sans"/>
                <a:ea typeface="Albert Sans"/>
                <a:cs typeface="Albert Sans"/>
                <a:sym typeface="Albert Sans"/>
              </a:rPr>
              <a:t>Acquire downloaded data and select account/profile information</a:t>
            </a:r>
            <a:endParaRPr sz="1800">
              <a:solidFill>
                <a:schemeClr val="dk1"/>
              </a:solidFill>
              <a:latin typeface="Albert Sans"/>
              <a:ea typeface="Albert Sans"/>
              <a:cs typeface="Albert Sans"/>
              <a:sym typeface="Albert Sans"/>
            </a:endParaRPr>
          </a:p>
          <a:p>
            <a:pPr indent="-342900" lvl="0" marL="457200" rtl="0" algn="l">
              <a:lnSpc>
                <a:spcPct val="115000"/>
              </a:lnSpc>
              <a:spcBef>
                <a:spcPts val="0"/>
              </a:spcBef>
              <a:spcAft>
                <a:spcPts val="0"/>
              </a:spcAft>
              <a:buClr>
                <a:schemeClr val="dk1"/>
              </a:buClr>
              <a:buSzPts val="1800"/>
              <a:buFont typeface="Albert Sans"/>
              <a:buAutoNum type="arabicPeriod"/>
            </a:pPr>
            <a:r>
              <a:rPr lang="en" sz="1800">
                <a:solidFill>
                  <a:schemeClr val="dk1"/>
                </a:solidFill>
                <a:latin typeface="Albert Sans"/>
                <a:ea typeface="Albert Sans"/>
                <a:cs typeface="Albert Sans"/>
                <a:sym typeface="Albert Sans"/>
              </a:rPr>
              <a:t>Begin testing data in the model </a:t>
            </a:r>
            <a:endParaRPr sz="1300">
              <a:solidFill>
                <a:schemeClr val="dk1"/>
              </a:solidFill>
              <a:latin typeface="Albert Sans"/>
              <a:ea typeface="Albert Sans"/>
              <a:cs typeface="Albert Sans"/>
              <a:sym typeface="Albert Sans"/>
            </a:endParaRPr>
          </a:p>
        </p:txBody>
      </p:sp>
      <p:sp>
        <p:nvSpPr>
          <p:cNvPr id="221" name="Google Shape;221;p28"/>
          <p:cNvSpPr txBox="1"/>
          <p:nvPr/>
        </p:nvSpPr>
        <p:spPr>
          <a:xfrm>
            <a:off x="706150" y="556025"/>
            <a:ext cx="24255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12169"/>
                </a:solidFill>
                <a:latin typeface="Albert Sans"/>
                <a:ea typeface="Albert Sans"/>
                <a:cs typeface="Albert Sans"/>
                <a:sym typeface="Albert Sans"/>
              </a:rPr>
              <a:t>Methodology</a:t>
            </a:r>
            <a:endParaRPr b="1" sz="2800">
              <a:solidFill>
                <a:srgbClr val="012169"/>
              </a:solidFill>
              <a:latin typeface="Albert Sans"/>
              <a:ea typeface="Albert Sans"/>
              <a:cs typeface="Albert Sans"/>
              <a:sym typeface="Albert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9"/>
          <p:cNvSpPr txBox="1"/>
          <p:nvPr/>
        </p:nvSpPr>
        <p:spPr>
          <a:xfrm>
            <a:off x="706150" y="556025"/>
            <a:ext cx="37191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12169"/>
                </a:solidFill>
                <a:latin typeface="Albert Sans"/>
                <a:ea typeface="Albert Sans"/>
                <a:cs typeface="Albert Sans"/>
                <a:sym typeface="Albert Sans"/>
              </a:rPr>
              <a:t>Methodology Figures</a:t>
            </a:r>
            <a:endParaRPr b="1" sz="2800">
              <a:solidFill>
                <a:srgbClr val="012169"/>
              </a:solidFill>
              <a:latin typeface="Albert Sans"/>
              <a:ea typeface="Albert Sans"/>
              <a:cs typeface="Albert Sans"/>
              <a:sym typeface="Albert Sans"/>
            </a:endParaRPr>
          </a:p>
        </p:txBody>
      </p:sp>
      <p:pic>
        <p:nvPicPr>
          <p:cNvPr id="227" name="Google Shape;227;p29" title="584 presentation IMG 1.png"/>
          <p:cNvPicPr preferRelativeResize="0"/>
          <p:nvPr/>
        </p:nvPicPr>
        <p:blipFill rotWithShape="1">
          <a:blip r:embed="rId3">
            <a:alphaModFix/>
          </a:blip>
          <a:srcRect b="0" l="0" r="3278" t="0"/>
          <a:stretch/>
        </p:blipFill>
        <p:spPr>
          <a:xfrm>
            <a:off x="782425" y="1260375"/>
            <a:ext cx="4159498" cy="2326551"/>
          </a:xfrm>
          <a:prstGeom prst="rect">
            <a:avLst/>
          </a:prstGeom>
          <a:noFill/>
          <a:ln>
            <a:noFill/>
          </a:ln>
        </p:spPr>
      </p:pic>
      <p:pic>
        <p:nvPicPr>
          <p:cNvPr id="228" name="Google Shape;228;p29" title="584 presentation img 2.png"/>
          <p:cNvPicPr preferRelativeResize="0"/>
          <p:nvPr/>
        </p:nvPicPr>
        <p:blipFill>
          <a:blip r:embed="rId4">
            <a:alphaModFix/>
          </a:blip>
          <a:stretch>
            <a:fillRect/>
          </a:stretch>
        </p:blipFill>
        <p:spPr>
          <a:xfrm>
            <a:off x="5234700" y="1260370"/>
            <a:ext cx="3386449" cy="14290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type="title"/>
          </p:nvPr>
        </p:nvSpPr>
        <p:spPr>
          <a:xfrm>
            <a:off x="782775" y="749550"/>
            <a:ext cx="3564000" cy="59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Code 1 </a:t>
            </a:r>
            <a:r>
              <a:rPr lang="en" sz="2800"/>
              <a:t>Key Findings</a:t>
            </a:r>
            <a:endParaRPr sz="2800"/>
          </a:p>
        </p:txBody>
      </p:sp>
      <p:sp>
        <p:nvSpPr>
          <p:cNvPr id="234" name="Google Shape;234;p30"/>
          <p:cNvSpPr txBox="1"/>
          <p:nvPr/>
        </p:nvSpPr>
        <p:spPr>
          <a:xfrm>
            <a:off x="716575" y="1343550"/>
            <a:ext cx="7960200" cy="3284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Albert Sans"/>
              <a:buChar char="➢"/>
            </a:pPr>
            <a:r>
              <a:rPr lang="en" sz="1500">
                <a:solidFill>
                  <a:schemeClr val="dk1"/>
                </a:solidFill>
                <a:latin typeface="Albert Sans"/>
                <a:ea typeface="Albert Sans"/>
                <a:cs typeface="Albert Sans"/>
                <a:sym typeface="Albert Sans"/>
              </a:rPr>
              <a:t>Data input in the article section should be full sentences in paragraph form not in bullet point format</a:t>
            </a:r>
            <a:endParaRPr sz="1500">
              <a:solidFill>
                <a:schemeClr val="dk1"/>
              </a:solidFill>
              <a:latin typeface="Albert Sans"/>
              <a:ea typeface="Albert Sans"/>
              <a:cs typeface="Albert Sans"/>
              <a:sym typeface="Albert Sans"/>
            </a:endParaRPr>
          </a:p>
          <a:p>
            <a:pPr indent="-323850" lvl="0" marL="457200" rtl="0" algn="l">
              <a:lnSpc>
                <a:spcPct val="115000"/>
              </a:lnSpc>
              <a:spcBef>
                <a:spcPts val="0"/>
              </a:spcBef>
              <a:spcAft>
                <a:spcPts val="0"/>
              </a:spcAft>
              <a:buClr>
                <a:schemeClr val="dk1"/>
              </a:buClr>
              <a:buSzPts val="1500"/>
              <a:buFont typeface="Albert Sans"/>
              <a:buChar char="➢"/>
            </a:pPr>
            <a:r>
              <a:rPr lang="en" sz="1500">
                <a:solidFill>
                  <a:schemeClr val="dk1"/>
                </a:solidFill>
                <a:latin typeface="Albert Sans"/>
                <a:ea typeface="Albert Sans"/>
                <a:cs typeface="Albert Sans"/>
                <a:sym typeface="Albert Sans"/>
              </a:rPr>
              <a:t>Metrics for best summarization in the print command are max_length = 425 and min_length = 30</a:t>
            </a:r>
            <a:endParaRPr sz="1500">
              <a:solidFill>
                <a:schemeClr val="dk1"/>
              </a:solidFill>
              <a:latin typeface="Albert Sans"/>
              <a:ea typeface="Albert Sans"/>
              <a:cs typeface="Albert Sans"/>
              <a:sym typeface="Albert Sans"/>
            </a:endParaRPr>
          </a:p>
          <a:p>
            <a:pPr indent="-323850" lvl="0" marL="457200" rtl="0" algn="l">
              <a:lnSpc>
                <a:spcPct val="115000"/>
              </a:lnSpc>
              <a:spcBef>
                <a:spcPts val="0"/>
              </a:spcBef>
              <a:spcAft>
                <a:spcPts val="0"/>
              </a:spcAft>
              <a:buClr>
                <a:schemeClr val="dk1"/>
              </a:buClr>
              <a:buSzPts val="1500"/>
              <a:buFont typeface="Albert Sans"/>
              <a:buChar char="➢"/>
            </a:pPr>
            <a:r>
              <a:rPr lang="en" sz="1500">
                <a:solidFill>
                  <a:schemeClr val="dk1"/>
                </a:solidFill>
                <a:latin typeface="Albert Sans"/>
                <a:ea typeface="Albert Sans"/>
                <a:cs typeface="Albert Sans"/>
                <a:sym typeface="Albert Sans"/>
              </a:rPr>
              <a:t>Despite getting the error (token indices sequence length is longer than the specified maximum sequence length for this model (919 &gt; 512). Running this sequence through the model will result in indexing errors), my output is successful</a:t>
            </a:r>
            <a:endParaRPr sz="1500">
              <a:solidFill>
                <a:schemeClr val="dk1"/>
              </a:solidFill>
              <a:highlight>
                <a:schemeClr val="lt2"/>
              </a:highlight>
              <a:latin typeface="Albert Sans"/>
              <a:ea typeface="Albert Sans"/>
              <a:cs typeface="Albert Sans"/>
              <a:sym typeface="Alber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1"/>
          <p:cNvSpPr txBox="1"/>
          <p:nvPr>
            <p:ph type="title"/>
          </p:nvPr>
        </p:nvSpPr>
        <p:spPr>
          <a:xfrm>
            <a:off x="830450" y="726800"/>
            <a:ext cx="3931200" cy="59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Code 1 Challenges</a:t>
            </a:r>
            <a:endParaRPr sz="2800"/>
          </a:p>
        </p:txBody>
      </p:sp>
      <p:sp>
        <p:nvSpPr>
          <p:cNvPr id="240" name="Google Shape;240;p31"/>
          <p:cNvSpPr txBox="1"/>
          <p:nvPr/>
        </p:nvSpPr>
        <p:spPr>
          <a:xfrm>
            <a:off x="906725" y="1320800"/>
            <a:ext cx="7465800" cy="2561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solidFill>
                  <a:schemeClr val="dk1"/>
                </a:solidFill>
                <a:latin typeface="Albert Sans"/>
                <a:ea typeface="Albert Sans"/>
                <a:cs typeface="Albert Sans"/>
                <a:sym typeface="Albert Sans"/>
              </a:rPr>
              <a:t>As I was reaching the end of my project, one </a:t>
            </a:r>
            <a:r>
              <a:rPr lang="en" sz="1500">
                <a:solidFill>
                  <a:schemeClr val="dk1"/>
                </a:solidFill>
                <a:latin typeface="Albert Sans"/>
                <a:ea typeface="Albert Sans"/>
                <a:cs typeface="Albert Sans"/>
                <a:sym typeface="Albert Sans"/>
              </a:rPr>
              <a:t>insight</a:t>
            </a:r>
            <a:r>
              <a:rPr lang="en" sz="1500">
                <a:solidFill>
                  <a:schemeClr val="dk1"/>
                </a:solidFill>
                <a:latin typeface="Albert Sans"/>
                <a:ea typeface="Albert Sans"/>
                <a:cs typeface="Albert Sans"/>
                <a:sym typeface="Albert Sans"/>
              </a:rPr>
              <a:t> I realized was that my model had met its goal of summarizing the downloaded data into a well-balanced summary, but now I also wanted to achieve a new goal: identifying and extracting PII data from the data input. I realized that I had hit a wall with this new goal as this could not be achieved by the standard code that the Hugging Face website gave me because the goal of my original Fine-Tuned T5 Small model is focused on “generating concise and coherent summaries of input text” [4].</a:t>
            </a:r>
            <a:endParaRPr sz="1500">
              <a:solidFill>
                <a:schemeClr val="dk1"/>
              </a:solidFill>
              <a:highlight>
                <a:srgbClr val="00FF00"/>
              </a:highlight>
              <a:latin typeface="Albert Sans"/>
              <a:ea typeface="Albert Sans"/>
              <a:cs typeface="Albert Sans"/>
              <a:sym typeface="Albert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2"/>
          <p:cNvSpPr txBox="1"/>
          <p:nvPr>
            <p:ph type="title"/>
          </p:nvPr>
        </p:nvSpPr>
        <p:spPr>
          <a:xfrm>
            <a:off x="830450" y="726800"/>
            <a:ext cx="3931200" cy="59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Pivot</a:t>
            </a:r>
            <a:endParaRPr sz="2800"/>
          </a:p>
        </p:txBody>
      </p:sp>
      <p:sp>
        <p:nvSpPr>
          <p:cNvPr id="246" name="Google Shape;246;p32"/>
          <p:cNvSpPr txBox="1"/>
          <p:nvPr/>
        </p:nvSpPr>
        <p:spPr>
          <a:xfrm>
            <a:off x="906725" y="1320800"/>
            <a:ext cx="7465800" cy="25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bert Sans"/>
                <a:ea typeface="Albert Sans"/>
                <a:cs typeface="Albert Sans"/>
                <a:sym typeface="Albert Sans"/>
              </a:rPr>
              <a:t>After hitting the wall with my first code, I moved onto meeting my second goal so I went to DeepSeek and specifically asked it to “write a python code to add into a Falconsai/text_summarization model to identify and extract PII data”. The chatbot gave me a code to try and it worked with some minor output errors. The new Python code takes the same data text input and now provides:</a:t>
            </a:r>
            <a:endParaRPr sz="1800">
              <a:solidFill>
                <a:schemeClr val="dk1"/>
              </a:solidFill>
              <a:latin typeface="Albert Sans"/>
              <a:ea typeface="Albert Sans"/>
              <a:cs typeface="Albert Sans"/>
              <a:sym typeface="Albert Sans"/>
            </a:endParaRPr>
          </a:p>
          <a:p>
            <a:pPr indent="-342900" lvl="0" marL="457200" rtl="0" algn="l">
              <a:spcBef>
                <a:spcPts val="0"/>
              </a:spcBef>
              <a:spcAft>
                <a:spcPts val="0"/>
              </a:spcAft>
              <a:buClr>
                <a:schemeClr val="dk1"/>
              </a:buClr>
              <a:buSzPts val="1800"/>
              <a:buFont typeface="Albert Sans"/>
              <a:buChar char="➢"/>
            </a:pPr>
            <a:r>
              <a:rPr lang="en" sz="1800">
                <a:solidFill>
                  <a:schemeClr val="dk1"/>
                </a:solidFill>
                <a:latin typeface="Albert Sans"/>
                <a:ea typeface="Albert Sans"/>
                <a:cs typeface="Albert Sans"/>
                <a:sym typeface="Albert Sans"/>
              </a:rPr>
              <a:t>An output with a generated summary of the input</a:t>
            </a:r>
            <a:endParaRPr sz="1800">
              <a:solidFill>
                <a:schemeClr val="dk1"/>
              </a:solidFill>
              <a:latin typeface="Albert Sans"/>
              <a:ea typeface="Albert Sans"/>
              <a:cs typeface="Albert Sans"/>
              <a:sym typeface="Albert Sans"/>
            </a:endParaRPr>
          </a:p>
          <a:p>
            <a:pPr indent="-342900" lvl="0" marL="457200" rtl="0" algn="l">
              <a:spcBef>
                <a:spcPts val="0"/>
              </a:spcBef>
              <a:spcAft>
                <a:spcPts val="0"/>
              </a:spcAft>
              <a:buClr>
                <a:schemeClr val="dk1"/>
              </a:buClr>
              <a:buSzPts val="1800"/>
              <a:buFont typeface="Albert Sans"/>
              <a:buChar char="➢"/>
            </a:pPr>
            <a:r>
              <a:rPr lang="en" sz="1800">
                <a:solidFill>
                  <a:schemeClr val="dk1"/>
                </a:solidFill>
                <a:latin typeface="Albert Sans"/>
                <a:ea typeface="Albert Sans"/>
                <a:cs typeface="Albert Sans"/>
                <a:sym typeface="Albert Sans"/>
              </a:rPr>
              <a:t>A summary of the PII redacted</a:t>
            </a:r>
            <a:endParaRPr sz="1800">
              <a:solidFill>
                <a:schemeClr val="dk1"/>
              </a:solidFill>
              <a:latin typeface="Albert Sans"/>
              <a:ea typeface="Albert Sans"/>
              <a:cs typeface="Albert Sans"/>
              <a:sym typeface="Albert Sans"/>
            </a:endParaRPr>
          </a:p>
          <a:p>
            <a:pPr indent="-342900" lvl="0" marL="457200" rtl="0" algn="l">
              <a:spcBef>
                <a:spcPts val="0"/>
              </a:spcBef>
              <a:spcAft>
                <a:spcPts val="0"/>
              </a:spcAft>
              <a:buClr>
                <a:schemeClr val="dk1"/>
              </a:buClr>
              <a:buSzPts val="1800"/>
              <a:buFont typeface="Albert Sans"/>
              <a:buChar char="➢"/>
            </a:pPr>
            <a:r>
              <a:rPr lang="en" sz="1800">
                <a:solidFill>
                  <a:schemeClr val="dk1"/>
                </a:solidFill>
                <a:latin typeface="Albert Sans"/>
                <a:ea typeface="Albert Sans"/>
                <a:cs typeface="Albert Sans"/>
                <a:sym typeface="Albert Sans"/>
              </a:rPr>
              <a:t>A summary of the anonymized text information</a:t>
            </a:r>
            <a:endParaRPr sz="1800">
              <a:solidFill>
                <a:schemeClr val="dk1"/>
              </a:solidFill>
              <a:latin typeface="Albert Sans"/>
              <a:ea typeface="Albert Sans"/>
              <a:cs typeface="Albert Sans"/>
              <a:sym typeface="Albert Sans"/>
            </a:endParaRPr>
          </a:p>
          <a:p>
            <a:pPr indent="-342900" lvl="0" marL="457200" rtl="0" algn="l">
              <a:spcBef>
                <a:spcPts val="0"/>
              </a:spcBef>
              <a:spcAft>
                <a:spcPts val="0"/>
              </a:spcAft>
              <a:buClr>
                <a:schemeClr val="dk1"/>
              </a:buClr>
              <a:buSzPts val="1800"/>
              <a:buFont typeface="Albert Sans"/>
              <a:buChar char="➢"/>
            </a:pPr>
            <a:r>
              <a:rPr lang="en" sz="1800">
                <a:solidFill>
                  <a:schemeClr val="dk1"/>
                </a:solidFill>
                <a:latin typeface="Albert Sans"/>
                <a:ea typeface="Albert Sans"/>
                <a:cs typeface="Albert Sans"/>
                <a:sym typeface="Albert Sans"/>
              </a:rPr>
              <a:t>A list of detected PII entities such as email, phone number, birthdate, social security number, and person</a:t>
            </a:r>
            <a:endParaRPr sz="1800">
              <a:solidFill>
                <a:schemeClr val="dk1"/>
              </a:solidFill>
              <a:highlight>
                <a:srgbClr val="00FF00"/>
              </a:highlight>
              <a:latin typeface="Albert Sans"/>
              <a:ea typeface="Albert Sans"/>
              <a:cs typeface="Albert Sans"/>
              <a:sym typeface="Albert Sans"/>
            </a:endParaRPr>
          </a:p>
          <a:p>
            <a:pPr indent="0" lvl="0" marL="0" rtl="0" algn="l">
              <a:lnSpc>
                <a:spcPct val="150000"/>
              </a:lnSpc>
              <a:spcBef>
                <a:spcPts val="0"/>
              </a:spcBef>
              <a:spcAft>
                <a:spcPts val="0"/>
              </a:spcAft>
              <a:buNone/>
            </a:pPr>
            <a:r>
              <a:t/>
            </a:r>
            <a:endParaRPr sz="1500">
              <a:solidFill>
                <a:schemeClr val="dk1"/>
              </a:solidFill>
              <a:latin typeface="Albert Sans"/>
              <a:ea typeface="Albert Sans"/>
              <a:cs typeface="Albert Sans"/>
              <a:sym typeface="Albert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3"/>
          <p:cNvSpPr txBox="1"/>
          <p:nvPr/>
        </p:nvSpPr>
        <p:spPr>
          <a:xfrm>
            <a:off x="715100" y="535000"/>
            <a:ext cx="59868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solidFill>
                <a:srgbClr val="012169"/>
              </a:solidFill>
              <a:latin typeface="Albert Sans"/>
              <a:ea typeface="Albert Sans"/>
              <a:cs typeface="Albert Sans"/>
              <a:sym typeface="Albert Sans"/>
            </a:endParaRPr>
          </a:p>
        </p:txBody>
      </p:sp>
      <p:sp>
        <p:nvSpPr>
          <p:cNvPr id="252" name="Google Shape;252;p33"/>
          <p:cNvSpPr txBox="1"/>
          <p:nvPr/>
        </p:nvSpPr>
        <p:spPr>
          <a:xfrm>
            <a:off x="590875" y="1329475"/>
            <a:ext cx="7924800" cy="3401100"/>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dk1"/>
              </a:buClr>
              <a:buSzPts val="1800"/>
              <a:buFont typeface="Albert Sans"/>
              <a:buChar char="➢"/>
            </a:pPr>
            <a:r>
              <a:rPr lang="en" sz="1800">
                <a:solidFill>
                  <a:schemeClr val="dk1"/>
                </a:solidFill>
                <a:latin typeface="Albert Sans"/>
                <a:ea typeface="Albert Sans"/>
                <a:cs typeface="Albert Sans"/>
                <a:sym typeface="Albert Sans"/>
              </a:rPr>
              <a:t>Model summarizes 2 out of 4 sentences in the original summary with the first 2 sentences being a direct copy and paste and the last 2 sentences are summarized</a:t>
            </a:r>
            <a:endParaRPr sz="1800">
              <a:solidFill>
                <a:schemeClr val="dk1"/>
              </a:solidFill>
              <a:latin typeface="Albert Sans"/>
              <a:ea typeface="Albert Sans"/>
              <a:cs typeface="Albert Sans"/>
              <a:sym typeface="Albert Sans"/>
            </a:endParaRPr>
          </a:p>
          <a:p>
            <a:pPr indent="-342900" lvl="0" marL="457200" rtl="0" algn="l">
              <a:lnSpc>
                <a:spcPct val="100000"/>
              </a:lnSpc>
              <a:spcBef>
                <a:spcPts val="0"/>
              </a:spcBef>
              <a:spcAft>
                <a:spcPts val="0"/>
              </a:spcAft>
              <a:buClr>
                <a:schemeClr val="dk1"/>
              </a:buClr>
              <a:buSzPts val="1800"/>
              <a:buFont typeface="Albert Sans"/>
              <a:buChar char="➢"/>
            </a:pPr>
            <a:r>
              <a:rPr lang="en" sz="1800">
                <a:solidFill>
                  <a:schemeClr val="dk1"/>
                </a:solidFill>
                <a:latin typeface="Albert Sans"/>
                <a:ea typeface="Albert Sans"/>
                <a:cs typeface="Albert Sans"/>
                <a:sym typeface="Albert Sans"/>
              </a:rPr>
              <a:t>Detection of the first PII Entities are correct: EMAIL, PHONE, and BIRTHDATE</a:t>
            </a:r>
            <a:endParaRPr sz="2400">
              <a:solidFill>
                <a:schemeClr val="dk1"/>
              </a:solidFill>
              <a:highlight>
                <a:schemeClr val="lt2"/>
              </a:highlight>
              <a:latin typeface="Albert Sans"/>
              <a:ea typeface="Albert Sans"/>
              <a:cs typeface="Albert Sans"/>
              <a:sym typeface="Albert Sans"/>
            </a:endParaRPr>
          </a:p>
        </p:txBody>
      </p:sp>
      <p:sp>
        <p:nvSpPr>
          <p:cNvPr id="253" name="Google Shape;253;p33"/>
          <p:cNvSpPr txBox="1"/>
          <p:nvPr/>
        </p:nvSpPr>
        <p:spPr>
          <a:xfrm>
            <a:off x="787050" y="665275"/>
            <a:ext cx="37224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12169"/>
                </a:solidFill>
                <a:latin typeface="Albert Sans"/>
                <a:ea typeface="Albert Sans"/>
                <a:cs typeface="Albert Sans"/>
                <a:sym typeface="Albert Sans"/>
              </a:rPr>
              <a:t>Code 2 Key Findings</a:t>
            </a:r>
            <a:endParaRPr b="1" sz="3000">
              <a:solidFill>
                <a:srgbClr val="012169"/>
              </a:solidFill>
              <a:latin typeface="Albert Sans"/>
              <a:ea typeface="Albert Sans"/>
              <a:cs typeface="Albert Sans"/>
              <a:sym typeface="Albert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txBox="1"/>
          <p:nvPr/>
        </p:nvSpPr>
        <p:spPr>
          <a:xfrm>
            <a:off x="715100" y="535000"/>
            <a:ext cx="59868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solidFill>
                <a:srgbClr val="012169"/>
              </a:solidFill>
              <a:latin typeface="Albert Sans"/>
              <a:ea typeface="Albert Sans"/>
              <a:cs typeface="Albert Sans"/>
              <a:sym typeface="Albert Sans"/>
            </a:endParaRPr>
          </a:p>
        </p:txBody>
      </p:sp>
      <p:sp>
        <p:nvSpPr>
          <p:cNvPr id="259" name="Google Shape;259;p34"/>
          <p:cNvSpPr txBox="1"/>
          <p:nvPr/>
        </p:nvSpPr>
        <p:spPr>
          <a:xfrm>
            <a:off x="787050" y="665275"/>
            <a:ext cx="37224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12169"/>
                </a:solidFill>
                <a:latin typeface="Albert Sans"/>
                <a:ea typeface="Albert Sans"/>
                <a:cs typeface="Albert Sans"/>
                <a:sym typeface="Albert Sans"/>
              </a:rPr>
              <a:t>Code 2 Challenges</a:t>
            </a:r>
            <a:endParaRPr b="1" sz="3000">
              <a:solidFill>
                <a:srgbClr val="012169"/>
              </a:solidFill>
              <a:latin typeface="Albert Sans"/>
              <a:ea typeface="Albert Sans"/>
              <a:cs typeface="Albert Sans"/>
              <a:sym typeface="Albert Sans"/>
            </a:endParaRPr>
          </a:p>
        </p:txBody>
      </p:sp>
      <p:sp>
        <p:nvSpPr>
          <p:cNvPr id="260" name="Google Shape;260;p34"/>
          <p:cNvSpPr txBox="1"/>
          <p:nvPr/>
        </p:nvSpPr>
        <p:spPr>
          <a:xfrm>
            <a:off x="787050" y="1199200"/>
            <a:ext cx="73992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Albert Sans"/>
                <a:ea typeface="Albert Sans"/>
                <a:cs typeface="Albert Sans"/>
                <a:sym typeface="Albert Sans"/>
              </a:rPr>
              <a:t>This new code does still have some drawbacks as the code does categorize some of the data inputs into the wrong PII entity like identifying random text as a person or an ID number being categorized as a phone number. I did remove the social security number and person PII entities as well as the summary of the PII redacted and the summary of the anonymized text information since those results in the output came back clearly wrong for the entities and unnecessary for the summaries.</a:t>
            </a:r>
            <a:r>
              <a:rPr lang="en">
                <a:solidFill>
                  <a:schemeClr val="dk1"/>
                </a:solidFill>
                <a:latin typeface="Albert Sans"/>
                <a:ea typeface="Albert Sans"/>
                <a:cs typeface="Albert Sans"/>
                <a:sym typeface="Albert Sans"/>
              </a:rPr>
              <a:t> </a:t>
            </a:r>
            <a:endParaRPr>
              <a:solidFill>
                <a:schemeClr val="dk1"/>
              </a:solidFill>
              <a:highlight>
                <a:srgbClr val="00FF00"/>
              </a:highlight>
              <a:latin typeface="Albert Sans"/>
              <a:ea typeface="Albert Sans"/>
              <a:cs typeface="Albert Sans"/>
              <a:sym typeface="Albert Sans"/>
            </a:endParaRPr>
          </a:p>
          <a:p>
            <a:pPr indent="0" lvl="0" marL="0" rtl="0" algn="l">
              <a:spcBef>
                <a:spcPts val="0"/>
              </a:spcBef>
              <a:spcAft>
                <a:spcPts val="0"/>
              </a:spcAft>
              <a:buNone/>
            </a:pPr>
            <a:r>
              <a:t/>
            </a:r>
            <a:endParaRPr sz="1200">
              <a:solidFill>
                <a:schemeClr val="dk1"/>
              </a:solidFill>
              <a:latin typeface="Albert Sans"/>
              <a:ea typeface="Albert Sans"/>
              <a:cs typeface="Albert Sans"/>
              <a:sym typeface="Albert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5"/>
          <p:cNvSpPr txBox="1"/>
          <p:nvPr>
            <p:ph type="title"/>
          </p:nvPr>
        </p:nvSpPr>
        <p:spPr>
          <a:xfrm>
            <a:off x="715100" y="535000"/>
            <a:ext cx="7713900" cy="66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Conclusion</a:t>
            </a:r>
            <a:endParaRPr sz="2800"/>
          </a:p>
        </p:txBody>
      </p:sp>
      <p:sp>
        <p:nvSpPr>
          <p:cNvPr id="266" name="Google Shape;266;p35"/>
          <p:cNvSpPr txBox="1"/>
          <p:nvPr/>
        </p:nvSpPr>
        <p:spPr>
          <a:xfrm>
            <a:off x="801325" y="1199200"/>
            <a:ext cx="7708800" cy="336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chemeClr val="dk1"/>
                </a:solidFill>
                <a:latin typeface="Albert Sans"/>
                <a:ea typeface="Albert Sans"/>
                <a:cs typeface="Albert Sans"/>
                <a:sym typeface="Albert Sans"/>
              </a:rPr>
              <a:t>My capstone project has taken me through a new and challenging experience that has rewarded me with two high-level outcomes and possible model feasibility as my first model met my goal of getting a balanced summary of the data input and the new DeepSeek code helping me get closer to my second goal of identifying and extracting specific PII data from the data input. While this project did have to change course, I was able to pivot and get two different results that still helped me achieve my project goals.</a:t>
            </a:r>
            <a:endParaRPr sz="2400">
              <a:solidFill>
                <a:schemeClr val="dk1"/>
              </a:solidFill>
              <a:latin typeface="Albert Sans"/>
              <a:ea typeface="Albert Sans"/>
              <a:cs typeface="Albert Sans"/>
              <a:sym typeface="Albert Sans"/>
            </a:endParaRPr>
          </a:p>
        </p:txBody>
      </p:sp>
      <p:sp>
        <p:nvSpPr>
          <p:cNvPr id="267" name="Google Shape;267;p35"/>
          <p:cNvSpPr txBox="1"/>
          <p:nvPr/>
        </p:nvSpPr>
        <p:spPr>
          <a:xfrm>
            <a:off x="1612875" y="1042475"/>
            <a:ext cx="566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Albert Sans"/>
              <a:ea typeface="Albert Sans"/>
              <a:cs typeface="Albert Sans"/>
              <a:sym typeface="Albert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6"/>
          <p:cNvSpPr txBox="1"/>
          <p:nvPr/>
        </p:nvSpPr>
        <p:spPr>
          <a:xfrm>
            <a:off x="715100" y="535000"/>
            <a:ext cx="37989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12169"/>
                </a:solidFill>
                <a:latin typeface="Albert Sans"/>
                <a:ea typeface="Albert Sans"/>
                <a:cs typeface="Albert Sans"/>
                <a:sym typeface="Albert Sans"/>
              </a:rPr>
              <a:t>Future Works</a:t>
            </a:r>
            <a:endParaRPr b="1" sz="2800">
              <a:solidFill>
                <a:srgbClr val="012169"/>
              </a:solidFill>
              <a:latin typeface="Albert Sans"/>
              <a:ea typeface="Albert Sans"/>
              <a:cs typeface="Albert Sans"/>
              <a:sym typeface="Albert Sans"/>
            </a:endParaRPr>
          </a:p>
        </p:txBody>
      </p:sp>
      <p:sp>
        <p:nvSpPr>
          <p:cNvPr id="273" name="Google Shape;273;p36"/>
          <p:cNvSpPr txBox="1"/>
          <p:nvPr/>
        </p:nvSpPr>
        <p:spPr>
          <a:xfrm>
            <a:off x="741900" y="1316625"/>
            <a:ext cx="7660200" cy="28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chemeClr val="dk1"/>
                </a:solidFill>
                <a:latin typeface="Albert Sans"/>
                <a:ea typeface="Albert Sans"/>
                <a:cs typeface="Albert Sans"/>
                <a:sym typeface="Albert Sans"/>
              </a:rPr>
              <a:t>For future works, I could possibly work on integrating both models into one so that the summarization and PII identification results are both provided to users in a cohesive report with the sensitive data that they provide to social media apps and possibly even suggest recommendations on how to make better data privacy and security decisions going forward on social media platforms to improve their security posture over their own data.</a:t>
            </a:r>
            <a:endParaRPr sz="1800">
              <a:solidFill>
                <a:schemeClr val="dk1"/>
              </a:solidFill>
              <a:latin typeface="Albert Sans"/>
              <a:ea typeface="Albert Sans"/>
              <a:cs typeface="Albert Sans"/>
              <a:sym typeface="Albert Sans"/>
            </a:endParaRPr>
          </a:p>
          <a:p>
            <a:pPr indent="0" lvl="0" marL="0" rtl="0" algn="l">
              <a:lnSpc>
                <a:spcPct val="115000"/>
              </a:lnSpc>
              <a:spcBef>
                <a:spcPts val="0"/>
              </a:spcBef>
              <a:spcAft>
                <a:spcPts val="0"/>
              </a:spcAft>
              <a:buNone/>
            </a:pPr>
            <a:r>
              <a:t/>
            </a:r>
            <a:endParaRPr sz="1800">
              <a:solidFill>
                <a:srgbClr val="012169"/>
              </a:solidFill>
              <a:latin typeface="Albert Sans"/>
              <a:ea typeface="Albert Sans"/>
              <a:cs typeface="Albert Sans"/>
              <a:sym typeface="Albert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7"/>
          <p:cNvSpPr txBox="1"/>
          <p:nvPr/>
        </p:nvSpPr>
        <p:spPr>
          <a:xfrm>
            <a:off x="3198450" y="2239650"/>
            <a:ext cx="2747100" cy="6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12169"/>
                </a:solidFill>
                <a:latin typeface="Albert Sans"/>
                <a:ea typeface="Albert Sans"/>
                <a:cs typeface="Albert Sans"/>
                <a:sym typeface="Albert Sans"/>
              </a:rPr>
              <a:t>Any questions?</a:t>
            </a:r>
            <a:endParaRPr b="1" sz="2800">
              <a:solidFill>
                <a:srgbClr val="012169"/>
              </a:solidFill>
              <a:latin typeface="Albert Sans"/>
              <a:ea typeface="Albert Sans"/>
              <a:cs typeface="Albert Sans"/>
              <a:sym typeface="Albert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idx="4294967295" type="ctrTitle"/>
          </p:nvPr>
        </p:nvSpPr>
        <p:spPr>
          <a:xfrm>
            <a:off x="3153900" y="2084538"/>
            <a:ext cx="2836200" cy="97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Thank you!</a:t>
            </a:r>
            <a:endParaRPr sz="2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txBox="1"/>
          <p:nvPr>
            <p:ph type="title"/>
          </p:nvPr>
        </p:nvSpPr>
        <p:spPr>
          <a:xfrm>
            <a:off x="715100" y="1134550"/>
            <a:ext cx="7918800" cy="3539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0" lang="en" sz="1200"/>
              <a:t>[1] IBM, “PII,” </a:t>
            </a:r>
            <a:r>
              <a:rPr b="0" i="1" lang="en" sz="1200"/>
              <a:t>Ibm.com</a:t>
            </a:r>
            <a:r>
              <a:rPr b="0" lang="en" sz="1200"/>
              <a:t>, Dec. 06, 2022. </a:t>
            </a:r>
            <a:r>
              <a:rPr b="0" lang="en" sz="1200" u="sng">
                <a:hlinkClick r:id="rId3"/>
              </a:rPr>
              <a:t>https://www.ibm.com/think/topics/pii</a:t>
            </a:r>
            <a:endParaRPr b="0" sz="1200"/>
          </a:p>
          <a:p>
            <a:pPr indent="0" lvl="0" marL="0" rtl="0" algn="l">
              <a:lnSpc>
                <a:spcPct val="115000"/>
              </a:lnSpc>
              <a:spcBef>
                <a:spcPts val="0"/>
              </a:spcBef>
              <a:spcAft>
                <a:spcPts val="0"/>
              </a:spcAft>
              <a:buNone/>
            </a:pPr>
            <a:r>
              <a:rPr b="0" lang="en" sz="1200"/>
              <a:t>[2] “These Social Media Platforms Harvest the Most Personal Data,” </a:t>
            </a:r>
            <a:r>
              <a:rPr b="0" i="1" lang="en" sz="1200"/>
              <a:t>Kiteworks | Your Private Content Network</a:t>
            </a:r>
            <a:r>
              <a:rPr b="0" lang="en" sz="1200"/>
              <a:t>, Sep. 27, 2024. </a:t>
            </a:r>
            <a:r>
              <a:rPr b="0" lang="en" sz="1200" u="sng">
                <a:hlinkClick r:id="rId4"/>
              </a:rPr>
              <a:t>https://www.kiteworks.com/company/press-releases/these-social-media-platforms-harvest-the-most-personal-data/</a:t>
            </a:r>
            <a:endParaRPr b="0" sz="1200"/>
          </a:p>
          <a:p>
            <a:pPr indent="0" lvl="0" marL="0" rtl="0" algn="l">
              <a:lnSpc>
                <a:spcPct val="115000"/>
              </a:lnSpc>
              <a:spcBef>
                <a:spcPts val="0"/>
              </a:spcBef>
              <a:spcAft>
                <a:spcPts val="0"/>
              </a:spcAft>
              <a:buNone/>
            </a:pPr>
            <a:r>
              <a:rPr b="0" lang="en" sz="1200"/>
              <a:t>[3] K. L. Walker, “Surrendering Information through the Looking Glass: Transparency, Trust, and Protection,” </a:t>
            </a:r>
            <a:r>
              <a:rPr b="0" i="1" lang="en" sz="1200"/>
              <a:t>Journal of Public Policy &amp; Marketing</a:t>
            </a:r>
            <a:r>
              <a:rPr b="0" lang="en" sz="1200"/>
              <a:t>, vol. 35, no. 1, pp. 144–158, Apr. 2016, doi: </a:t>
            </a:r>
            <a:r>
              <a:rPr b="0" lang="en" sz="1200" u="sng">
                <a:hlinkClick r:id="rId5"/>
              </a:rPr>
              <a:t>https://doi.org/10.1509/jppm.15.020</a:t>
            </a:r>
            <a:r>
              <a:rPr b="0" lang="en" sz="1200"/>
              <a:t>.</a:t>
            </a:r>
            <a:endParaRPr b="0" sz="1200"/>
          </a:p>
          <a:p>
            <a:pPr indent="0" lvl="0" marL="0" rtl="0" algn="l">
              <a:lnSpc>
                <a:spcPct val="115000"/>
              </a:lnSpc>
              <a:spcBef>
                <a:spcPts val="0"/>
              </a:spcBef>
              <a:spcAft>
                <a:spcPts val="0"/>
              </a:spcAft>
              <a:buNone/>
            </a:pPr>
            <a:r>
              <a:rPr b="0" lang="en" sz="1200"/>
              <a:t>[4] “Falconsai/text_summarization · Hugging Face,” </a:t>
            </a:r>
            <a:r>
              <a:rPr b="0" i="1" lang="en" sz="1200"/>
              <a:t>huggingface.co</a:t>
            </a:r>
            <a:r>
              <a:rPr b="0" lang="en" sz="1200"/>
              <a:t>. </a:t>
            </a:r>
            <a:r>
              <a:rPr b="0" lang="en" sz="1200" u="sng">
                <a:hlinkClick r:id="rId6"/>
              </a:rPr>
              <a:t>https://huggingface.co/Falconsai/text_summarization</a:t>
            </a:r>
            <a:endParaRPr b="0" sz="1200"/>
          </a:p>
          <a:p>
            <a:pPr indent="0" lvl="0" marL="0" rtl="0" algn="l">
              <a:lnSpc>
                <a:spcPct val="115000"/>
              </a:lnSpc>
              <a:spcBef>
                <a:spcPts val="0"/>
              </a:spcBef>
              <a:spcAft>
                <a:spcPts val="0"/>
              </a:spcAft>
              <a:buNone/>
            </a:pPr>
            <a:r>
              <a:t/>
            </a:r>
            <a:endParaRPr b="0" sz="1200"/>
          </a:p>
          <a:p>
            <a:pPr indent="0" lvl="0" marL="0" rtl="0" algn="l">
              <a:lnSpc>
                <a:spcPct val="115000"/>
              </a:lnSpc>
              <a:spcBef>
                <a:spcPts val="0"/>
              </a:spcBef>
              <a:spcAft>
                <a:spcPts val="0"/>
              </a:spcAft>
              <a:buNone/>
            </a:pPr>
            <a:r>
              <a:rPr b="0" lang="en" sz="1200"/>
              <a:t>Images: </a:t>
            </a:r>
            <a:endParaRPr b="0" sz="1200"/>
          </a:p>
          <a:p>
            <a:pPr indent="0" lvl="0" marL="0" rtl="0" algn="l">
              <a:lnSpc>
                <a:spcPct val="115000"/>
              </a:lnSpc>
              <a:spcBef>
                <a:spcPts val="0"/>
              </a:spcBef>
              <a:spcAft>
                <a:spcPts val="0"/>
              </a:spcAft>
              <a:buNone/>
            </a:pPr>
            <a:r>
              <a:rPr b="0" lang="en" sz="1200"/>
              <a:t>“Tagembed: Free Social Media Aggregator For Website,” </a:t>
            </a:r>
            <a:r>
              <a:rPr b="0" i="1" lang="en" sz="1200"/>
              <a:t>Best Social Media Aggregator Tool For Websites | Tagembed</a:t>
            </a:r>
            <a:r>
              <a:rPr b="0" lang="en" sz="1200"/>
              <a:t>, May 30, 2024. </a:t>
            </a:r>
            <a:r>
              <a:rPr b="0" lang="en" sz="1200" u="sng">
                <a:hlinkClick r:id="rId7"/>
              </a:rPr>
              <a:t>https://tagembed.com/</a:t>
            </a:r>
            <a:endParaRPr b="0" sz="1200"/>
          </a:p>
          <a:p>
            <a:pPr indent="0" lvl="0" marL="0" rtl="0" algn="l">
              <a:lnSpc>
                <a:spcPct val="115000"/>
              </a:lnSpc>
              <a:spcBef>
                <a:spcPts val="0"/>
              </a:spcBef>
              <a:spcAft>
                <a:spcPts val="0"/>
              </a:spcAft>
              <a:buNone/>
            </a:pPr>
            <a:r>
              <a:rPr b="0" lang="en" sz="1200"/>
              <a:t>DPM, “What is Personally Identifiable Information (PII)?,” </a:t>
            </a:r>
            <a:r>
              <a:rPr b="0" i="1" lang="en" sz="1200"/>
              <a:t>Data Privacy Manager</a:t>
            </a:r>
            <a:r>
              <a:rPr b="0" lang="en" sz="1200"/>
              <a:t>, Feb. 23, 2021. https://dataprivacymanager.net/what-is-personally-identifiable-information-pii/</a:t>
            </a:r>
            <a:endParaRPr b="0" sz="1200"/>
          </a:p>
          <a:p>
            <a:pPr indent="0" lvl="0" marL="0" rtl="0" algn="l">
              <a:lnSpc>
                <a:spcPct val="150000"/>
              </a:lnSpc>
              <a:spcBef>
                <a:spcPts val="0"/>
              </a:spcBef>
              <a:spcAft>
                <a:spcPts val="0"/>
              </a:spcAft>
              <a:buNone/>
            </a:pPr>
            <a:r>
              <a:t/>
            </a:r>
            <a:endParaRPr b="0" sz="1100"/>
          </a:p>
        </p:txBody>
      </p:sp>
      <p:sp>
        <p:nvSpPr>
          <p:cNvPr id="289" name="Google Shape;289;p39"/>
          <p:cNvSpPr txBox="1"/>
          <p:nvPr>
            <p:ph type="title"/>
          </p:nvPr>
        </p:nvSpPr>
        <p:spPr>
          <a:xfrm>
            <a:off x="715100" y="535000"/>
            <a:ext cx="2520600" cy="50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References</a:t>
            </a:r>
            <a:endParaRPr sz="2800"/>
          </a:p>
        </p:txBody>
      </p:sp>
    </p:spTree>
  </p:cSld>
  <p:clrMapOvr>
    <a:masterClrMapping/>
  </p:clrMapOvr>
</p:sld>
</file>

<file path=ppt/theme/theme1.xml><?xml version="1.0" encoding="utf-8"?>
<a:theme xmlns:a="http://schemas.openxmlformats.org/drawingml/2006/main" xmlns:r="http://schemas.openxmlformats.org/officeDocument/2006/relationships" name="AI Incident Automation Pitch Deck by Slidesgo">
  <a:themeElements>
    <a:clrScheme name="Simple Light">
      <a:dk1>
        <a:srgbClr val="012169"/>
      </a:dk1>
      <a:lt1>
        <a:srgbClr val="0048A7"/>
      </a:lt1>
      <a:dk2>
        <a:srgbClr val="0388E5"/>
      </a:dk2>
      <a:lt2>
        <a:srgbClr val="3ED4FD"/>
      </a:lt2>
      <a:accent1>
        <a:srgbClr val="DAF2FE"/>
      </a:accent1>
      <a:accent2>
        <a:srgbClr val="6746B9"/>
      </a:accent2>
      <a:accent3>
        <a:srgbClr val="AD8DFF"/>
      </a:accent3>
      <a:accent4>
        <a:srgbClr val="FFFFFF"/>
      </a:accent4>
      <a:accent5>
        <a:srgbClr val="FFFFFF"/>
      </a:accent5>
      <a:accent6>
        <a:srgbClr val="FFFFFF"/>
      </a:accent6>
      <a:hlink>
        <a:srgbClr val="0121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